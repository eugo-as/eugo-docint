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stateless document-understanding service. Files in, structured facts out.</a:t>
            </a:r>
          </a:p>
          <a:p/>
          <a:p>
            <a:r>
              <a:t>Two things this deck covers, in the order the room cares about them:</a:t>
            </a:r>
          </a:p>
          <a:p>
            <a:r>
              <a:t>1. What it unlocks when you put it in front of an AI agent.</a:t>
            </a:r>
          </a:p>
          <a:p>
            <a:r>
              <a:t>2. How each file type is actually handled under the hood.</a:t>
            </a:r>
          </a:p>
          <a:p/>
          <a:p>
            <a:r>
              <a:t>It is a cluster-internal HTTP service, not a product with a UI. It is called by</a:t>
            </a:r>
          </a:p>
          <a:p>
            <a:r>
              <a:t>other services and by agent runtimes over a single synchronous endpoint.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as an engineering gap, not a model gap. Frontier models are</a:t>
            </a:r>
          </a:p>
          <a:p>
            <a:r>
              <a:t>already good enough to reason about a bill of materials or a datasheet. They</a:t>
            </a:r>
          </a:p>
          <a:p>
            <a:r>
              <a:t>simply never receive it in a form they can use.</a:t>
            </a:r>
          </a:p>
          <a:p/>
          <a:p>
            <a:r>
              <a:t>The failure mode worth naming out loud: silent wrongness. A scraped table that</a:t>
            </a:r>
          </a:p>
          <a:p>
            <a:r>
              <a:t>loses its column alignment does not throw an error. It produces a plausible</a:t>
            </a:r>
          </a:p>
          <a:p>
            <a:r>
              <a:t>answer that is wrong, and nothing downstream can tell.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to remember: one request, N files, one response, N results — in the</a:t>
            </a:r>
          </a:p>
          <a:p>
            <a:r>
              <a:t>same order they were sent.</a:t>
            </a:r>
          </a:p>
          <a:p/>
          <a:p>
            <a:r>
              <a:t>Synchronous by design. No job IDs, no polling, no callback URL. That decision is</a:t>
            </a:r>
          </a:p>
          <a:p>
            <a:r>
              <a:t>what lets an agent call this inside a single tool call and keep reasoning with</a:t>
            </a:r>
          </a:p>
          <a:p>
            <a:r>
              <a:t>the result in the same turn.</a:t>
            </a:r>
          </a:p>
          <a:p/>
          <a:p>
            <a:r>
              <a:t>Caps shown are the defaults: 50 MB per file, 32 files per request, 100 seconds</a:t>
            </a:r>
          </a:p>
          <a:p>
            <a:r>
              <a:t>per file, four files processed concurrently. All configurable.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load-bearing design decision in the service, and the one</a:t>
            </a:r>
          </a:p>
          <a:p>
            <a:r>
              <a:t>most likely to be argued with.</a:t>
            </a:r>
          </a:p>
          <a:p/>
          <a:p>
            <a:r>
              <a:t>The temptation is always to let the extractor be clever: tag the document type,</a:t>
            </a:r>
          </a:p>
          <a:p>
            <a:r>
              <a:t>flag the interesting rows, summarise. Every one of those is an irreversible</a:t>
            </a:r>
          </a:p>
          <a:p>
            <a:r>
              <a:t>judgment made with less context than the agent has.</a:t>
            </a:r>
          </a:p>
          <a:p/>
          <a:p>
            <a:r>
              <a:t>Concretely, this is enforced rather than merely intended: the image prompt is</a:t>
            </a:r>
          </a:p>
          <a:p>
            <a:r>
              <a:t>pinned in source as a constant and covered by a snapshot test, so nobody can</a:t>
            </a:r>
          </a:p>
          <a:p>
            <a:r>
              <a:t>loosen it into classification language without a test failing.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We have covered what the service is; now what it is for.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does not need to know which engine will run. It sends bytes and a</a:t>
            </a:r>
          </a:p>
          <a:p>
            <a:r>
              <a:t>filename; kind detection and routing happen server-side. That is deliberate —</a:t>
            </a:r>
          </a:p>
          <a:p>
            <a:r>
              <a:t>it keeps format knowledge out of the agent's prompt entirely.</a:t>
            </a:r>
          </a:p>
          <a:p/>
          <a:p>
            <a:r>
              <a:t>The optional hint field lets a caller say "this spreadsheet is a bill of</a:t>
            </a:r>
          </a:p>
          <a:p>
            <a:r>
              <a:t>materials" or "this image is a product photo". Today hints are advisory</a:t>
            </a:r>
          </a:p>
          <a:p>
            <a:r>
              <a:t>metadata — validated, echoed as warnings if unrecognised, but they do not change</a:t>
            </a:r>
          </a:p>
          <a:p>
            <a:r>
              <a:t>routing. That leaves room to make them behavioural later without breaking the</a:t>
            </a:r>
          </a:p>
          <a:p>
            <a:r>
              <a:t>contract.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common thread: in every one of these, the model is not the bottleneck. A</a:t>
            </a:r>
          </a:p>
          <a:p>
            <a:r>
              <a:t>frontier model can already reconcile two bills of materials. It simply cannot</a:t>
            </a:r>
          </a:p>
          <a:p>
            <a:r>
              <a:t>open the file.</a:t>
            </a:r>
          </a:p>
          <a:p/>
          <a:p>
            <a:r>
              <a:t>Worth saying explicitly if asked about scope: this is not a RAG system, not a</a:t>
            </a:r>
          </a:p>
          <a:p>
            <a:r>
              <a:t>vector store and not a document archive. It has no memory of anything it has</a:t>
            </a:r>
          </a:p>
          <a:p>
            <a:r>
              <a:t>processed. It is the ingestion step that sits in front of whatever you build.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technical claim in the deck — worth slowing down for.</a:t>
            </a:r>
          </a:p>
          <a:p/>
          <a:p>
            <a:r>
              <a:t>A spreadsheet stores a number once and displays it many ways. Anything that</a:t>
            </a:r>
          </a:p>
          <a:p>
            <a:r>
              <a:t>reads the *rendered* text inherits the display format: thousands separators,</a:t>
            </a:r>
          </a:p>
          <a:p>
            <a:r>
              <a:t>currency symbols, a comma decimal mark, a rounded display of a more precise</a:t>
            </a:r>
          </a:p>
          <a:p>
            <a:r>
              <a:t>value. An agent then has to reverse that transformation, and it will sometimes</a:t>
            </a:r>
          </a:p>
          <a:p>
            <a:r>
              <a:t>get it wrong without any signal that it did.</a:t>
            </a:r>
          </a:p>
          <a:p/>
          <a:p>
            <a:r>
              <a:t>Reading the stored value skips the entire problem. Formula cells return the</a:t>
            </a:r>
          </a:p>
          <a:p>
            <a:r>
              <a:t>cached computed result, not the formula text. Date-styled cells are converted</a:t>
            </a:r>
          </a:p>
          <a:p>
            <a:r>
              <a:t>from their serial number to ISO-8601 rather than passed through in whatever</a:t>
            </a:r>
          </a:p>
          <a:p>
            <a:r>
              <a:t>regional format the author happened to use.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the obvious alternative: an all-or-nothing endpoint that 400s or</a:t>
            </a:r>
          </a:p>
          <a:p>
            <a:r>
              <a:t>500s when any file is bad. Under that design an agent handed ten good files and</a:t>
            </a:r>
          </a:p>
          <a:p>
            <a:r>
              <a:t>one corrupt one gets nothing, cannot tell which file was at fault, and its only</a:t>
            </a:r>
          </a:p>
          <a:p>
            <a:r>
              <a:t>recovery is to retry the whole batch or bisect it.</a:t>
            </a:r>
          </a:p>
          <a:p/>
          <a:p>
            <a:r>
              <a:t>engine_unconfigured is worth calling out — it is what makes staged rollout</a:t>
            </a:r>
          </a:p>
          <a:p>
            <a:r>
              <a:t>workable. The service boots and serves health checks with no cloud credentials</a:t>
            </a:r>
          </a:p>
          <a:p>
            <a:r>
              <a:t>at all; only the file kinds that need a missing dependency fail, and they fail</a:t>
            </a:r>
          </a:p>
          <a:p>
            <a:r>
              <a:t>with a code that says exactly that. Spreadsheets keep working regardless,</a:t>
            </a:r>
          </a:p>
          <a:p>
            <a:r>
              <a:t>because that path makes no network call.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Statelessness has one honest caveat worth knowing if it comes up: the</a:t>
            </a:r>
          </a:p>
          <a:p>
            <a:r>
              <a:t>spreadsheet path opens the workbook from memory, but the underlying packaging</a:t>
            </a:r>
          </a:p>
          <a:p>
            <a:r>
              <a:t>library spills package parts to a transient temp file. That file is</a:t>
            </a:r>
          </a:p>
          <a:p>
            <a:r>
              <a:t>request-scoped and discarded, so the guarantee holds — nothing is persisted and</a:t>
            </a:r>
          </a:p>
          <a:p>
            <a:r>
              <a:t>nothing outlives the request — but the process does require a writable temp</a:t>
            </a:r>
          </a:p>
          <a:p>
            <a:r>
              <a:t>directory. Worth stating precisely: "never touches disk" is the kind of shorthand</a:t>
            </a:r>
          </a:p>
          <a:p>
            <a:r>
              <a:t>that leads to a container hardened with a read-only root and no writable temp,</a:t>
            </a:r>
          </a:p>
          <a:p>
            <a:r>
              <a:t>which breaks every spreadsheet request. A deployment-time check guards it.</a:t>
            </a:r>
          </a:p>
          <a:p/>
          <a:p>
            <a:r>
              <a:t>The log redaction rule is verified, not asserted: a test runs real fixture files</a:t>
            </a:r>
          </a:p>
          <a:p>
            <a:r>
              <a:t>through the service, captures the logs, and fails if any known content string</a:t>
            </a:r>
          </a:p>
          <a:p>
            <a:r>
              <a:t>from those files appears.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into the technical half. Three engines, one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seam that matters is the engine interface: declare which kinds you handle,</a:t>
            </a:r>
          </a:p>
          <a:p>
            <a:r>
              <a:t>accept a file, return a result. That is the whole contract.</a:t>
            </a:r>
          </a:p>
          <a:p/>
          <a:p>
            <a:r>
              <a:t>Because the router owns the per-file timeout and the catch-all exception</a:t>
            </a:r>
          </a:p>
          <a:p>
            <a:r>
              <a:t>handler, an engine author cannot forget either one, and cannot accidentally let</a:t>
            </a:r>
          </a:p>
          <a:p>
            <a:r>
              <a:t>an exception message carrying document content escape into a response.</a:t>
            </a:r>
          </a:p>
          <a:p/>
          <a:p>
            <a:r>
              <a:t>Cloud dependencies sit behind two thin adapter interfaces rather than being</a:t>
            </a:r>
          </a:p>
          <a:p>
            <a:r>
              <a:t>called directly from the engines. That is both the test seam — the whole HTTP</a:t>
            </a:r>
          </a:p>
          <a:p>
            <a:r>
              <a:t>pipeline runs in tests with fakes injected — and the credential seam, where key</a:t>
            </a:r>
          </a:p>
          <a:p>
            <a:r>
              <a:t>versus managed-identity authentication is decided.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Trusting the declared content type is the classic mistake here. Browsers, HTTP</a:t>
            </a:r>
          </a:p>
          <a:p>
            <a:r>
              <a:t>clients and users all get it wrong routinely — an .xlsx sent as</a:t>
            </a:r>
          </a:p>
          <a:p>
            <a:r>
              <a:t>application/octet-stream, a .png named .jpg, a PDF renamed to .docx.</a:t>
            </a:r>
          </a:p>
          <a:p/>
          <a:p>
            <a:r>
              <a:t>The interesting case is the ZIP container. DOCX, XLSX and PPTX are all ZIP</a:t>
            </a:r>
          </a:p>
          <a:p>
            <a:r>
              <a:t>archives, so the PK signature alone cannot separate them. Rather than unzip and</a:t>
            </a:r>
          </a:p>
          <a:p>
            <a:r>
              <a:t>inspect the internal part names, the detector falls back to the declared content</a:t>
            </a:r>
          </a:p>
          <a:p>
            <a:r>
              <a:t>type and then the extension — cheap, and correct in practice because the caller</a:t>
            </a:r>
          </a:p>
          <a:p>
            <a:r>
              <a:t>has no incentive to lie about which Office format it is sending.</a:t>
            </a:r>
          </a:p>
          <a:p/>
          <a:p>
            <a:r>
              <a:t>Both the routing decision and the warning are covered by unit tests; this is one</a:t>
            </a:r>
          </a:p>
          <a:p>
            <a:r>
              <a:t>of the most thoroughly tested pieces of the service relative to its size.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someone asks why spreadsheets are not simply sent to the layout model: they</a:t>
            </a:r>
          </a:p>
          <a:p>
            <a:r>
              <a:t>can be, and it works, and the numbers come back as formatted display strings.</a:t>
            </a:r>
          </a:p>
          <a:p>
            <a:r>
              <a:t>That is precisely the failure discussed earlier. The dedicated path exists to</a:t>
            </a:r>
          </a:p>
          <a:p>
            <a:r>
              <a:t>avoid it.</a:t>
            </a:r>
          </a:p>
          <a:p/>
          <a:p>
            <a:r>
              <a:t>The three engines also have very different cost and latency profiles. The</a:t>
            </a:r>
          </a:p>
          <a:p>
            <a:r>
              <a:t>spreadsheet path is pure in-process compute — no network call, milliseconds. The</a:t>
            </a:r>
          </a:p>
          <a:p>
            <a:r>
              <a:t>other two are network round-trips to cloud models and dominate request latency.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 itself is around thirty lines. That is the point — almost all the</a:t>
            </a:r>
          </a:p>
          <a:p>
            <a:r>
              <a:t>difficulty lives in the model, and the service's job is to route to it, bound</a:t>
            </a:r>
          </a:p>
          <a:p>
            <a:r>
              <a:t>it, and translate its failures into the per-file error vocabulary.</a:t>
            </a:r>
          </a:p>
          <a:p/>
          <a:p>
            <a:r>
              <a:t>Page count returned by the model feeds the throughput metric, which is how</a:t>
            </a:r>
          </a:p>
          <a:p>
            <a:r>
              <a:t>per-page cost is tracked in production.</a:t>
            </a:r>
          </a:p>
          <a:p/>
          <a:p>
            <a:r>
              <a:t>Worth noting for anyone who has built this before: asking the model for Markdown</a:t>
            </a:r>
          </a:p>
          <a:p>
            <a:r>
              <a:t>rather than its structured coordinate output is a deliberate simplification. The</a:t>
            </a:r>
          </a:p>
          <a:p>
            <a:r>
              <a:t>structured form is richer, but reassembling it into something a language model</a:t>
            </a:r>
          </a:p>
          <a:p>
            <a:r>
              <a:t>reads well is exactly the work we are trying not to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 details worth having ready, all in the source:</a:t>
            </a:r>
          </a:p>
          <a:p/>
          <a:p>
            <a:r>
              <a:t>- Date detection works off the style index: number-format IDs 14-22 and 45-47 are</a:t>
            </a:r>
          </a:p>
          <a:p>
            <a:r>
              <a:t>  the built-in date and time formats, so a cell carrying one of those styles is</a:t>
            </a:r>
          </a:p>
          <a:p>
            <a:r>
              <a:t>  read as a date serial rather than a bare number.</a:t>
            </a:r>
          </a:p>
          <a:p>
            <a:r>
              <a:t>- Very large values overflow decimal at roughly 7.9e28; those fall back to double</a:t>
            </a:r>
          </a:p>
          <a:p>
            <a:r>
              <a:t>  when finite, and to raw text when not, because a non-finite double cannot be</a:t>
            </a:r>
          </a:p>
          <a:p>
            <a:r>
              <a:t>  serialised as JSON at all.</a:t>
            </a:r>
          </a:p>
          <a:p>
            <a:r>
              <a:t>- Interior blank rows are preserved so section gaps survive, but the row index in</a:t>
            </a:r>
          </a:p>
          <a:p>
            <a:r>
              <a:t>  the file is untrusted input — a crafted index delta would otherwise allocate</a:t>
            </a:r>
          </a:p>
          <a:p>
            <a:r>
              <a:t>  billions of rows. Synthesis is capped at 4096 rows per sheet, with a warning</a:t>
            </a:r>
          </a:p>
          <a:p>
            <a:r>
              <a:t>  when the cap is hit.</a:t>
            </a:r>
          </a:p>
          <a:p>
            <a:r>
              <a:t>- Pipe characters are escaped and embedded newlines folded when rendering</a:t>
            </a:r>
          </a:p>
          <a:p>
            <a:r>
              <a:t>  Markdown, because a raw newline inside a table row corrupts the whole table.</a:t>
            </a:r>
          </a:p>
          <a:p/>
          <a:p>
            <a:r>
              <a:t>The golden-file test for this engine asserts numeric fidelity cell by cell</a:t>
            </a:r>
          </a:p>
          <a:p>
            <a:r>
              <a:t>against a committed fixture workbook, and runs entirely offline.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prompt, close to verbatim: describe the photograph for a document record;</a:t>
            </a:r>
          </a:p>
          <a:p>
            <a:r>
              <a:t>list only what is directly visible — objects, text, markings, labels, symbols,</a:t>
            </a:r>
          </a:p>
          <a:p>
            <a:r>
              <a:t>materials, colours, quantities; transcribe visible text and codes exactly as</a:t>
            </a:r>
          </a:p>
          <a:p>
            <a:r>
              <a:t>printed; do not identify categories, do not infer purpose or status, do not</a:t>
            </a:r>
          </a:p>
          <a:p>
            <a:r>
              <a:t>assert anything not visible; output plain text.</a:t>
            </a:r>
          </a:p>
          <a:p/>
          <a:p>
            <a:r>
              <a:t>The reason it is pinned in code rather than exposed as configuration: a prompt</a:t>
            </a:r>
          </a:p>
          <a:p>
            <a:r>
              <a:t>that can be edited per environment is a prompt that will quietly diverge, and</a:t>
            </a:r>
          </a:p>
          <a:p>
            <a:r>
              <a:t>then the same photograph produces different descriptions in test and in</a:t>
            </a:r>
          </a:p>
          <a:p>
            <a:r>
              <a:t>production with nothing in the diff to show why.</a:t>
            </a:r>
          </a:p>
          <a:p/>
          <a:p>
            <a:r>
              <a:t>The snapshot test is doing real work. It means loosening the guardrail into</a:t>
            </a:r>
          </a:p>
          <a:p>
            <a:r>
              <a:t>classification language is not something that can happen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metric worth explaining if asked: duplicate submissions. It counts repeated</a:t>
            </a:r>
          </a:p>
          <a:p>
            <a:r>
              <a:t>files both within a single request, where the count is exact, and across</a:t>
            </a:r>
          </a:p>
          <a:p>
            <a:r>
              <a:t>requests seen by the same instance, where it is a lower bound only — because</a:t>
            </a:r>
          </a:p>
          <a:p>
            <a:r>
              <a:t>requests are load-balanced across replicas, a repeat lands on the instance that</a:t>
            </a:r>
          </a:p>
          <a:p>
            <a:r>
              <a:t>saw it before only some of the time. That caveat is written into the metric's</a:t>
            </a:r>
          </a:p>
          <a:p>
            <a:r>
              <a:t>own description so a dashboard author cannot miss it.</a:t>
            </a:r>
          </a:p>
          <a:p/>
          <a:p>
            <a:r>
              <a:t>Load shedding is deliberately distinguished from rejection. A rejected request is</a:t>
            </a:r>
          </a:p>
          <a:p>
            <a:r>
              <a:t>malformed and will never succeed. A shed request is well-formed and retryable —</a:t>
            </a:r>
          </a:p>
          <a:p>
            <a:r>
              <a:t>different signal, different metric, different caller behaviour.</a:t>
            </a:r>
          </a:p>
          <a:p/>
          <a:p>
            <a:r>
              <a:t>Testing has three offline layers plus one gated live layer: unit tests for</a:t>
            </a:r>
          </a:p>
          <a:p>
            <a:r>
              <a:t>detection and validation, HTTP contract tests running the real pipeline with the</a:t>
            </a:r>
          </a:p>
          <a:p>
            <a:r>
              <a:t>cloud clients faked, golden-file tests proving spreadsheet numeric fidelity</a:t>
            </a:r>
          </a:p>
          <a:p>
            <a:r>
              <a:t>offline, and an environment-gated suite that runs every fixture through the real</a:t>
            </a:r>
          </a:p>
          <a:p>
            <a:r>
              <a:t>models.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first and the fourth points if time is short — they are the two that</a:t>
            </a:r>
          </a:p>
          <a:p>
            <a:r>
              <a:t>change how a listener thinks about the problem.</a:t>
            </a:r>
          </a:p>
          <a:p/>
          <a:p>
            <a:r>
              <a:t>Likely questions:</a:t>
            </a:r>
          </a:p>
          <a:p>
            <a:r>
              <a:t>- Why not one library per format instead of a cloud model? Reading order, table</a:t>
            </a:r>
          </a:p>
          <a:p>
            <a:r>
              <a:t>  recovery and OCR are each a multi-year problem and none of them differentiate.</a:t>
            </a:r>
          </a:p>
          <a:p>
            <a:r>
              <a:t>- Why not send spreadsheets through the layout model too? Because the numbers</a:t>
            </a:r>
          </a:p>
          <a:p>
            <a:r>
              <a:t>  come back rendered, and that is the exact failure the dedicated path exists to</a:t>
            </a:r>
          </a:p>
          <a:p>
            <a:r>
              <a:t>  prevent.</a:t>
            </a:r>
          </a:p>
          <a:p>
            <a:r>
              <a:t>- Is this a RAG system? No. It is stateless and has no memory of anything it has</a:t>
            </a:r>
          </a:p>
          <a:p>
            <a:r>
              <a:t>  processed. It is the ingestion step in front of whatever you 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74320"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4206240" cy="6858000"/>
          </a:xfrm>
          <a:prstGeom prst="rect">
            <a:avLst/>
          </a:prstGeom>
          <a:solidFill>
            <a:srgbClr val="1724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8579815" y="960120"/>
            <a:ext cx="1188720" cy="457200"/>
          </a:xfrm>
          <a:prstGeom prst="roundRect">
            <a:avLst>
              <a:gd name="adj" fmla="val 18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579815" y="1078992"/>
            <a:ext cx="11887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PDF</a:t>
            </a:r>
          </a:p>
        </p:txBody>
      </p:sp>
      <p:sp>
        <p:nvSpPr>
          <p:cNvPr id="7" name="Isosceles Triangle 6"/>
          <p:cNvSpPr/>
          <p:nvPr/>
        </p:nvSpPr>
        <p:spPr>
          <a:xfrm rot="5400000">
            <a:off x="9978847" y="1088136"/>
            <a:ext cx="201168" cy="201168"/>
          </a:xfrm>
          <a:prstGeom prs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44607" y="1051560"/>
            <a:ext cx="1325880" cy="274320"/>
          </a:xfrm>
          <a:prstGeom prst="rect">
            <a:avLst/>
          </a:prstGeom>
          <a:solidFill>
            <a:srgbClr val="2B3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8579815" y="1618488"/>
            <a:ext cx="1188720" cy="457200"/>
          </a:xfrm>
          <a:prstGeom prst="roundRect">
            <a:avLst>
              <a:gd name="adj" fmla="val 18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579815" y="1737360"/>
            <a:ext cx="11887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DOCX</a:t>
            </a:r>
          </a:p>
        </p:txBody>
      </p:sp>
      <p:sp>
        <p:nvSpPr>
          <p:cNvPr id="11" name="Isosceles Triangle 10"/>
          <p:cNvSpPr/>
          <p:nvPr/>
        </p:nvSpPr>
        <p:spPr>
          <a:xfrm rot="5400000">
            <a:off x="9978847" y="1746504"/>
            <a:ext cx="201168" cy="201168"/>
          </a:xfrm>
          <a:prstGeom prs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344607" y="1709928"/>
            <a:ext cx="1325880" cy="274320"/>
          </a:xfrm>
          <a:prstGeom prst="rect">
            <a:avLst/>
          </a:prstGeom>
          <a:solidFill>
            <a:srgbClr val="2B3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8579815" y="2276856"/>
            <a:ext cx="1188720" cy="457200"/>
          </a:xfrm>
          <a:prstGeom prst="roundRect">
            <a:avLst>
              <a:gd name="adj" fmla="val 18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579815" y="2395728"/>
            <a:ext cx="11887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PPTX</a:t>
            </a:r>
          </a:p>
        </p:txBody>
      </p:sp>
      <p:sp>
        <p:nvSpPr>
          <p:cNvPr id="15" name="Isosceles Triangle 14"/>
          <p:cNvSpPr/>
          <p:nvPr/>
        </p:nvSpPr>
        <p:spPr>
          <a:xfrm rot="5400000">
            <a:off x="9978847" y="2404872"/>
            <a:ext cx="201168" cy="201168"/>
          </a:xfrm>
          <a:prstGeom prs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344607" y="2368296"/>
            <a:ext cx="1325880" cy="274320"/>
          </a:xfrm>
          <a:prstGeom prst="rect">
            <a:avLst/>
          </a:prstGeom>
          <a:solidFill>
            <a:srgbClr val="2B3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8579815" y="2935224"/>
            <a:ext cx="1188720" cy="457200"/>
          </a:xfrm>
          <a:prstGeom prst="roundRect">
            <a:avLst>
              <a:gd name="adj" fmla="val 18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579815" y="3054096"/>
            <a:ext cx="11887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HTML</a:t>
            </a:r>
          </a:p>
        </p:txBody>
      </p:sp>
      <p:sp>
        <p:nvSpPr>
          <p:cNvPr id="19" name="Isosceles Triangle 18"/>
          <p:cNvSpPr/>
          <p:nvPr/>
        </p:nvSpPr>
        <p:spPr>
          <a:xfrm rot="5400000">
            <a:off x="9978847" y="3063240"/>
            <a:ext cx="201168" cy="201168"/>
          </a:xfrm>
          <a:prstGeom prs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344607" y="3026664"/>
            <a:ext cx="1325880" cy="274320"/>
          </a:xfrm>
          <a:prstGeom prst="rect">
            <a:avLst/>
          </a:prstGeom>
          <a:solidFill>
            <a:srgbClr val="2B3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579815" y="3593591"/>
            <a:ext cx="1188720" cy="457200"/>
          </a:xfrm>
          <a:prstGeom prst="roundRect">
            <a:avLst>
              <a:gd name="adj" fmla="val 1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579815" y="3712463"/>
            <a:ext cx="11887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XLSX</a:t>
            </a:r>
          </a:p>
        </p:txBody>
      </p:sp>
      <p:sp>
        <p:nvSpPr>
          <p:cNvPr id="23" name="Isosceles Triangle 22"/>
          <p:cNvSpPr/>
          <p:nvPr/>
        </p:nvSpPr>
        <p:spPr>
          <a:xfrm rot="5400000">
            <a:off x="9978847" y="3721607"/>
            <a:ext cx="201168" cy="201168"/>
          </a:xfrm>
          <a:prstGeom prs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344607" y="3685031"/>
            <a:ext cx="1325880" cy="274320"/>
          </a:xfrm>
          <a:prstGeom prst="rect">
            <a:avLst/>
          </a:prstGeom>
          <a:solidFill>
            <a:srgbClr val="2B3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8579815" y="4251959"/>
            <a:ext cx="1188720" cy="457200"/>
          </a:xfrm>
          <a:prstGeom prst="roundRect">
            <a:avLst>
              <a:gd name="adj" fmla="val 1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579815" y="4370831"/>
            <a:ext cx="11887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JPG</a:t>
            </a:r>
          </a:p>
        </p:txBody>
      </p:sp>
      <p:sp>
        <p:nvSpPr>
          <p:cNvPr id="27" name="Isosceles Triangle 26"/>
          <p:cNvSpPr/>
          <p:nvPr/>
        </p:nvSpPr>
        <p:spPr>
          <a:xfrm rot="5400000">
            <a:off x="9978847" y="4379975"/>
            <a:ext cx="201168" cy="201168"/>
          </a:xfrm>
          <a:prstGeom prs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344607" y="4343399"/>
            <a:ext cx="1325880" cy="274320"/>
          </a:xfrm>
          <a:prstGeom prst="rect">
            <a:avLst/>
          </a:prstGeom>
          <a:solidFill>
            <a:srgbClr val="2B3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8579815" y="4910328"/>
            <a:ext cx="1188720" cy="457200"/>
          </a:xfrm>
          <a:prstGeom prst="roundRect">
            <a:avLst>
              <a:gd name="adj" fmla="val 18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579815" y="5029200"/>
            <a:ext cx="11887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PNG</a:t>
            </a:r>
          </a:p>
        </p:txBody>
      </p:sp>
      <p:sp>
        <p:nvSpPr>
          <p:cNvPr id="31" name="Isosceles Triangle 30"/>
          <p:cNvSpPr/>
          <p:nvPr/>
        </p:nvSpPr>
        <p:spPr>
          <a:xfrm rot="5400000">
            <a:off x="9978847" y="5038344"/>
            <a:ext cx="201168" cy="201168"/>
          </a:xfrm>
          <a:prstGeom prs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44607" y="5001768"/>
            <a:ext cx="1325880" cy="274320"/>
          </a:xfrm>
          <a:prstGeom prst="rect">
            <a:avLst/>
          </a:prstGeom>
          <a:solidFill>
            <a:srgbClr val="2B3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51560" y="2103120"/>
            <a:ext cx="6766560" cy="36576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1D4ED8"/>
                </a:solidFill>
                <a:latin typeface="Segoe UI"/>
              </a:rPr>
              <a:t>ARCHITECTURE &amp; IMPLEMENTATION OVERVIEW</a:t>
            </a:r>
          </a:p>
        </p:txBody>
      </p:sp>
      <p:sp>
        <p:nvSpPr>
          <p:cNvPr id="34" name="TextBox 33"/>
          <p:cNvSpPr txBox="1"/>
          <p:nvPr/>
        </p:nvSpPr>
        <p:spPr>
          <a:xfrm>
            <a:off x="1051560" y="2606040"/>
            <a:ext cx="6858000" cy="2011680"/>
          </a:xfrm>
          <a:prstGeom prst="rect">
            <a:avLst/>
          </a:prstGeom>
          <a:noFill/>
        </p:spPr>
        <p:txBody>
          <a:bodyPr wrap="square" lIns="0" rIns="0" tIns="0" bIns="0" anchor="t">
            <a:spAutoFit/>
          </a:bodyPr>
          <a:lstStyle/>
          <a:p>
            <a:pPr algn="l">
              <a:lnSpc>
                <a:spcPct val="102000"/>
              </a:lnSpc>
              <a:spcBef>
                <a:spcPts val="0"/>
              </a:spcBef>
              <a:spcAft>
                <a:spcPts val="200"/>
              </a:spcAft>
            </a:pPr>
            <a:r>
              <a:rPr sz="4600" b="1" i="0">
                <a:solidFill>
                  <a:srgbClr val="FFFFFF"/>
                </a:solidFill>
                <a:latin typeface="Segoe UI"/>
              </a:rPr>
              <a:t>Document Intelligence</a:t>
            </a:r>
          </a:p>
          <a:p>
            <a:pPr algn="l">
              <a:lnSpc>
                <a:spcPct val="102000"/>
              </a:lnSpc>
              <a:spcBef>
                <a:spcPts val="0"/>
              </a:spcBef>
              <a:spcAft>
                <a:spcPts val="0"/>
              </a:spcAft>
            </a:pPr>
            <a:r>
              <a:rPr sz="4600" b="1" i="0">
                <a:solidFill>
                  <a:srgbClr val="1D4ED8"/>
                </a:solidFill>
                <a:latin typeface="Segoe UI"/>
              </a:rPr>
              <a:t>for AI Agents</a:t>
            </a:r>
          </a:p>
        </p:txBody>
      </p:sp>
      <p:sp>
        <p:nvSpPr>
          <p:cNvPr id="35" name="Rectangle 34"/>
          <p:cNvSpPr/>
          <p:nvPr/>
        </p:nvSpPr>
        <p:spPr>
          <a:xfrm>
            <a:off x="1051560" y="4617720"/>
            <a:ext cx="1371600" cy="411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51560" y="4956048"/>
            <a:ext cx="6400800" cy="914400"/>
          </a:xfrm>
          <a:prstGeom prst="rect">
            <a:avLst/>
          </a:prstGeom>
          <a:noFill/>
        </p:spPr>
        <p:txBody>
          <a:bodyPr wrap="square" lIns="0" rIns="0" tIns="0" bIns="0" anchor="t">
            <a:spAutoFit/>
          </a:bodyPr>
          <a:lstStyle/>
          <a:p>
            <a:pPr algn="l">
              <a:lnSpc>
                <a:spcPct val="135000"/>
              </a:lnSpc>
              <a:spcBef>
                <a:spcPts val="0"/>
              </a:spcBef>
              <a:spcAft>
                <a:spcPts val="0"/>
              </a:spcAft>
            </a:pPr>
            <a:r>
              <a:rPr sz="1500" b="0" i="0">
                <a:solidFill>
                  <a:srgbClr val="94A3B8"/>
                </a:solidFill>
                <a:latin typeface="Segoe UI"/>
              </a:rPr>
              <a:t>Turning documents, spreadsheets and photographs into structured, machine-readable facts an agent can reason over.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D4ED8"/>
                </a:solidFill>
                <a:latin typeface="Segoe UI"/>
              </a:rPr>
              <a:t>THE PROBLEM</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An AI agent cannot read a binary file</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Language models reason over text. Most real-world documents are structured binary formats.</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420289"/>
            <a:ext cx="68580" cy="685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2352890"/>
            <a:ext cx="5696712" cy="648289"/>
          </a:xfrm>
          <a:prstGeom prst="rect">
            <a:avLst/>
          </a:prstGeom>
          <a:noFill/>
        </p:spPr>
        <p:txBody>
          <a:bodyPr wrap="square" lIns="0" rIns="0" tIns="0" bIns="0" anchor="t">
            <a:spAutoFit/>
          </a:bodyPr>
          <a:lstStyle/>
          <a:p>
            <a:pPr algn="l">
              <a:lnSpc>
                <a:spcPct val="128000"/>
              </a:lnSpc>
              <a:spcAft>
                <a:spcPts val="0"/>
              </a:spcAft>
            </a:pPr>
            <a:r>
              <a:rPr sz="1450" b="1" i="0">
                <a:solidFill>
                  <a:srgbClr val="0F172A"/>
                </a:solidFill>
                <a:latin typeface="Segoe UI"/>
              </a:rPr>
              <a:t>A PDF is not text. </a:t>
            </a:r>
            <a:r>
              <a:rPr sz="1450" b="0" i="0">
                <a:solidFill>
                  <a:srgbClr val="64748B"/>
                </a:solidFill>
                <a:latin typeface="Segoe UI"/>
              </a:rPr>
              <a:t>It is a layout program — reading order and tables must be recovered, not simply read off.</a:t>
            </a:r>
          </a:p>
        </p:txBody>
      </p:sp>
      <p:sp>
        <p:nvSpPr>
          <p:cNvPr id="10" name="Rectangle 9"/>
          <p:cNvSpPr/>
          <p:nvPr/>
        </p:nvSpPr>
        <p:spPr>
          <a:xfrm>
            <a:off x="777240" y="3274827"/>
            <a:ext cx="68580" cy="685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9848" y="3207428"/>
            <a:ext cx="5696712" cy="648289"/>
          </a:xfrm>
          <a:prstGeom prst="rect">
            <a:avLst/>
          </a:prstGeom>
          <a:noFill/>
        </p:spPr>
        <p:txBody>
          <a:bodyPr wrap="square" lIns="0" rIns="0" tIns="0" bIns="0" anchor="t">
            <a:spAutoFit/>
          </a:bodyPr>
          <a:lstStyle/>
          <a:p>
            <a:pPr algn="l">
              <a:lnSpc>
                <a:spcPct val="128000"/>
              </a:lnSpc>
              <a:spcAft>
                <a:spcPts val="0"/>
              </a:spcAft>
            </a:pPr>
            <a:r>
              <a:rPr sz="1450" b="1" i="0">
                <a:solidFill>
                  <a:srgbClr val="0F172A"/>
                </a:solidFill>
                <a:latin typeface="Segoe UI"/>
              </a:rPr>
              <a:t>A spreadsheet is not strings. </a:t>
            </a:r>
            <a:r>
              <a:rPr sz="1450" b="0" i="0">
                <a:solidFill>
                  <a:srgbClr val="64748B"/>
                </a:solidFill>
                <a:latin typeface="Segoe UI"/>
              </a:rPr>
              <a:t>It is typed values, formulas and styles; the numbers you see are formatted, not stored.</a:t>
            </a:r>
          </a:p>
        </p:txBody>
      </p:sp>
      <p:sp>
        <p:nvSpPr>
          <p:cNvPr id="12" name="Rectangle 11"/>
          <p:cNvSpPr/>
          <p:nvPr/>
        </p:nvSpPr>
        <p:spPr>
          <a:xfrm>
            <a:off x="777240" y="4129364"/>
            <a:ext cx="68580" cy="685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69848" y="4061965"/>
            <a:ext cx="5696712" cy="648289"/>
          </a:xfrm>
          <a:prstGeom prst="rect">
            <a:avLst/>
          </a:prstGeom>
          <a:noFill/>
        </p:spPr>
        <p:txBody>
          <a:bodyPr wrap="square" lIns="0" rIns="0" tIns="0" bIns="0" anchor="t">
            <a:spAutoFit/>
          </a:bodyPr>
          <a:lstStyle/>
          <a:p>
            <a:pPr algn="l">
              <a:lnSpc>
                <a:spcPct val="128000"/>
              </a:lnSpc>
              <a:spcAft>
                <a:spcPts val="0"/>
              </a:spcAft>
            </a:pPr>
            <a:r>
              <a:rPr sz="1450" b="1" i="0">
                <a:solidFill>
                  <a:srgbClr val="0F172A"/>
                </a:solidFill>
                <a:latin typeface="Segoe UI"/>
              </a:rPr>
              <a:t>A photograph carries no text. </a:t>
            </a:r>
            <a:r>
              <a:rPr sz="1450" b="0" i="0">
                <a:solidFill>
                  <a:srgbClr val="64748B"/>
                </a:solidFill>
                <a:latin typeface="Segoe UI"/>
              </a:rPr>
              <a:t>What an agent needs from it must be produced by a model that can see.</a:t>
            </a:r>
          </a:p>
        </p:txBody>
      </p:sp>
      <p:sp>
        <p:nvSpPr>
          <p:cNvPr id="14" name="Rectangle 13"/>
          <p:cNvSpPr/>
          <p:nvPr/>
        </p:nvSpPr>
        <p:spPr>
          <a:xfrm>
            <a:off x="7178040" y="2279738"/>
            <a:ext cx="4233672" cy="3383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178040" y="2279738"/>
            <a:ext cx="4233672" cy="50292"/>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452360" y="2554058"/>
            <a:ext cx="3703320" cy="2971800"/>
          </a:xfrm>
          <a:prstGeom prst="rect">
            <a:avLst/>
          </a:prstGeom>
          <a:noFill/>
        </p:spPr>
        <p:txBody>
          <a:bodyPr wrap="square" lIns="0" rIns="0" tIns="0" bIns="0" anchor="t">
            <a:spAutoFit/>
          </a:bodyPr>
          <a:lstStyle/>
          <a:p>
            <a:pPr algn="l">
              <a:lnSpc>
                <a:spcPct val="110000"/>
              </a:lnSpc>
              <a:spcBef>
                <a:spcPts val="0"/>
              </a:spcBef>
              <a:spcAft>
                <a:spcPts val="1300"/>
              </a:spcAft>
            </a:pPr>
            <a:r>
              <a:rPr sz="1450" b="1" i="0">
                <a:solidFill>
                  <a:srgbClr val="0F172A"/>
                </a:solidFill>
                <a:latin typeface="Segoe UI"/>
              </a:rPr>
              <a:t>The naive fixes all leak</a:t>
            </a:r>
          </a:p>
          <a:p>
            <a:pPr algn="l">
              <a:lnSpc>
                <a:spcPct val="125000"/>
              </a:lnSpc>
              <a:spcAft>
                <a:spcPts val="1100"/>
              </a:spcAft>
            </a:pPr>
            <a:r>
              <a:rPr sz="1250" b="1" i="0">
                <a:solidFill>
                  <a:srgbClr val="0F172A"/>
                </a:solidFill>
                <a:latin typeface="Segoe UI"/>
              </a:rPr>
              <a:t>Plain-text scraping — </a:t>
            </a:r>
            <a:r>
              <a:rPr sz="1250" b="0" i="0">
                <a:solidFill>
                  <a:srgbClr val="64748B"/>
                </a:solidFill>
                <a:latin typeface="Segoe UI"/>
              </a:rPr>
              <a:t>loses tables, column order and headings</a:t>
            </a:r>
          </a:p>
          <a:p>
            <a:pPr algn="l">
              <a:lnSpc>
                <a:spcPct val="125000"/>
              </a:lnSpc>
              <a:spcAft>
                <a:spcPts val="1100"/>
              </a:spcAft>
            </a:pPr>
            <a:r>
              <a:rPr sz="1250" b="1" i="0">
                <a:solidFill>
                  <a:srgbClr val="0F172A"/>
                </a:solidFill>
                <a:latin typeface="Segoe UI"/>
              </a:rPr>
              <a:t>Screenshot the page — </a:t>
            </a:r>
            <a:r>
              <a:rPr sz="1250" b="0" i="0">
                <a:solidFill>
                  <a:srgbClr val="64748B"/>
                </a:solidFill>
                <a:latin typeface="Segoe UI"/>
              </a:rPr>
              <a:t>the model re-reads numbers it can only guess at</a:t>
            </a:r>
          </a:p>
          <a:p>
            <a:pPr algn="l">
              <a:lnSpc>
                <a:spcPct val="125000"/>
              </a:lnSpc>
              <a:spcAft>
                <a:spcPts val="1100"/>
              </a:spcAft>
            </a:pPr>
            <a:r>
              <a:rPr sz="1250" b="1" i="0">
                <a:solidFill>
                  <a:srgbClr val="0F172A"/>
                </a:solidFill>
                <a:latin typeface="Segoe UI"/>
              </a:rPr>
              <a:t>Per-format libraries — </a:t>
            </a:r>
            <a:r>
              <a:rPr sz="1250" b="0" i="0">
                <a:solidFill>
                  <a:srgbClr val="64748B"/>
                </a:solidFill>
                <a:latin typeface="Segoe UI"/>
              </a:rPr>
              <a:t>a different bug surface for every file type</a:t>
            </a:r>
          </a:p>
          <a:p>
            <a:pPr algn="l">
              <a:lnSpc>
                <a:spcPct val="125000"/>
              </a:lnSpc>
              <a:spcAft>
                <a:spcPts val="1100"/>
              </a:spcAft>
            </a:pPr>
            <a:r>
              <a:rPr sz="1250" b="1" i="0">
                <a:solidFill>
                  <a:srgbClr val="0F172A"/>
                </a:solidFill>
                <a:latin typeface="Segoe UI"/>
              </a:rPr>
              <a:t>Paste the raw bytes — </a:t>
            </a:r>
            <a:r>
              <a:rPr sz="1250" b="0" i="0">
                <a:solidFill>
                  <a:srgbClr val="64748B"/>
                </a:solidFill>
                <a:latin typeface="Segoe UI"/>
              </a:rPr>
              <a:t>burns the context window, teaches nothing</a:t>
            </a:r>
          </a:p>
        </p:txBody>
      </p:sp>
      <p:sp>
        <p:nvSpPr>
          <p:cNvPr id="17" name="TextBox 16"/>
          <p:cNvSpPr txBox="1"/>
          <p:nvPr/>
        </p:nvSpPr>
        <p:spPr>
          <a:xfrm>
            <a:off x="777240" y="5742432"/>
            <a:ext cx="10637215" cy="457200"/>
          </a:xfrm>
          <a:prstGeom prst="rect">
            <a:avLst/>
          </a:prstGeom>
          <a:noFill/>
        </p:spPr>
        <p:txBody>
          <a:bodyPr wrap="square" lIns="0" rIns="0" tIns="0" bIns="0" anchor="t">
            <a:spAutoFit/>
          </a:bodyPr>
          <a:lstStyle/>
          <a:p>
            <a:pPr algn="l">
              <a:lnSpc>
                <a:spcPct val="125000"/>
              </a:lnSpc>
              <a:spcAft>
                <a:spcPts val="0"/>
              </a:spcAft>
            </a:pPr>
            <a:r>
              <a:rPr sz="1550" b="1" i="0">
                <a:solidFill>
                  <a:srgbClr val="0F172A"/>
                </a:solidFill>
                <a:latin typeface="Segoe UI"/>
              </a:rPr>
              <a:t>The gap is not intelligence. </a:t>
            </a:r>
            <a:r>
              <a:rPr sz="1550" b="0" i="0">
                <a:solidFill>
                  <a:srgbClr val="64748B"/>
                </a:solidFill>
                <a:latin typeface="Segoe UI"/>
              </a:rPr>
              <a:t>It is ingestion — and it is the same gap for every agent that touches real documents.</a:t>
            </a:r>
          </a:p>
        </p:txBody>
      </p:sp>
      <p:sp>
        <p:nvSpPr>
          <p:cNvPr id="18" name="TextBox 17"/>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D4ED8"/>
                </a:solidFill>
                <a:latin typeface="Segoe UI"/>
              </a:rPr>
              <a:t>THE SERVICE</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Files in. Facts out. One call.</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A single synchronous HTTP endpoint accepts a batch of mixed-format files and returns one structured envelope.</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352890"/>
            <a:ext cx="2788920"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590634"/>
            <a:ext cx="2286000" cy="2377440"/>
          </a:xfrm>
          <a:prstGeom prst="rect">
            <a:avLst/>
          </a:prstGeom>
          <a:noFill/>
        </p:spPr>
        <p:txBody>
          <a:bodyPr wrap="square" lIns="0" rIns="0" tIns="0" bIns="0" anchor="t">
            <a:spAutoFit/>
          </a:bodyPr>
          <a:lstStyle/>
          <a:p>
            <a:pPr algn="l">
              <a:lnSpc>
                <a:spcPct val="100000"/>
              </a:lnSpc>
              <a:spcBef>
                <a:spcPts val="0"/>
              </a:spcBef>
              <a:spcAft>
                <a:spcPts val="1300"/>
              </a:spcAft>
            </a:pPr>
            <a:r>
              <a:rPr sz="1050" b="1" i="0">
                <a:solidFill>
                  <a:srgbClr val="64748B"/>
                </a:solidFill>
                <a:latin typeface="Segoe UI"/>
              </a:rPr>
              <a:t>INPUT</a:t>
            </a:r>
          </a:p>
          <a:p>
            <a:pPr algn="l">
              <a:lnSpc>
                <a:spcPct val="125000"/>
              </a:lnSpc>
              <a:spcAft>
                <a:spcPts val="1400"/>
              </a:spcAft>
            </a:pPr>
            <a:r>
              <a:rPr sz="1250" b="1" i="0">
                <a:solidFill>
                  <a:srgbClr val="1D4ED8"/>
                </a:solidFill>
                <a:latin typeface="Segoe UI"/>
              </a:rPr>
              <a:t>PDF — digital or scanned</a:t>
            </a:r>
          </a:p>
          <a:p>
            <a:pPr algn="l">
              <a:lnSpc>
                <a:spcPct val="125000"/>
              </a:lnSpc>
              <a:spcAft>
                <a:spcPts val="1400"/>
              </a:spcAft>
            </a:pPr>
            <a:r>
              <a:rPr sz="1250" b="1" i="0">
                <a:solidFill>
                  <a:srgbClr val="1D4ED8"/>
                </a:solidFill>
                <a:latin typeface="Segoe UI"/>
              </a:rPr>
              <a:t>DOCX  ·  PPTX</a:t>
            </a:r>
          </a:p>
          <a:p>
            <a:pPr algn="l">
              <a:lnSpc>
                <a:spcPct val="125000"/>
              </a:lnSpc>
              <a:spcAft>
                <a:spcPts val="1400"/>
              </a:spcAft>
            </a:pPr>
            <a:r>
              <a:rPr sz="1250" b="1" i="0">
                <a:solidFill>
                  <a:srgbClr val="1D4ED8"/>
                </a:solidFill>
                <a:latin typeface="Segoe UI"/>
              </a:rPr>
              <a:t>HTML</a:t>
            </a:r>
          </a:p>
          <a:p>
            <a:pPr algn="l">
              <a:lnSpc>
                <a:spcPct val="125000"/>
              </a:lnSpc>
              <a:spcAft>
                <a:spcPts val="1400"/>
              </a:spcAft>
            </a:pPr>
            <a:r>
              <a:rPr sz="1250" b="1" i="0">
                <a:solidFill>
                  <a:srgbClr val="0F766E"/>
                </a:solidFill>
                <a:latin typeface="Segoe UI"/>
              </a:rPr>
              <a:t>XLSX</a:t>
            </a:r>
          </a:p>
          <a:p>
            <a:pPr algn="l">
              <a:lnSpc>
                <a:spcPct val="125000"/>
              </a:lnSpc>
              <a:spcAft>
                <a:spcPts val="1400"/>
              </a:spcAft>
            </a:pPr>
            <a:r>
              <a:rPr sz="1250" b="1" i="0">
                <a:solidFill>
                  <a:srgbClr val="6D28D9"/>
                </a:solidFill>
                <a:latin typeface="Segoe UI"/>
              </a:rPr>
              <a:t>JPG  ·  PNG</a:t>
            </a:r>
          </a:p>
        </p:txBody>
      </p:sp>
      <p:sp>
        <p:nvSpPr>
          <p:cNvPr id="10" name="TextBox 9"/>
          <p:cNvSpPr txBox="1"/>
          <p:nvPr/>
        </p:nvSpPr>
        <p:spPr>
          <a:xfrm>
            <a:off x="1033271" y="5480138"/>
            <a:ext cx="2286000" cy="365760"/>
          </a:xfrm>
          <a:prstGeom prst="rect">
            <a:avLst/>
          </a:prstGeom>
          <a:noFill/>
        </p:spPr>
        <p:txBody>
          <a:bodyPr wrap="square" lIns="0" rIns="0" tIns="0" bIns="0" anchor="t">
            <a:spAutoFit/>
          </a:bodyPr>
          <a:lstStyle/>
          <a:p>
            <a:pPr algn="l">
              <a:lnSpc>
                <a:spcPct val="120000"/>
              </a:lnSpc>
              <a:spcBef>
                <a:spcPts val="0"/>
              </a:spcBef>
              <a:spcAft>
                <a:spcPts val="0"/>
              </a:spcAft>
            </a:pPr>
            <a:r>
              <a:rPr sz="1100" b="0" i="1">
                <a:solidFill>
                  <a:srgbClr val="94A3B8"/>
                </a:solidFill>
                <a:latin typeface="Segoe UI"/>
              </a:rPr>
              <a:t>multipart, up to 32 files</a:t>
            </a:r>
          </a:p>
        </p:txBody>
      </p:sp>
      <p:sp>
        <p:nvSpPr>
          <p:cNvPr id="11" name="Isosceles Triangle 10"/>
          <p:cNvSpPr/>
          <p:nvPr/>
        </p:nvSpPr>
        <p:spPr>
          <a:xfrm rot="5400000">
            <a:off x="3767328" y="4026242"/>
            <a:ext cx="237744" cy="237744"/>
          </a:xfrm>
          <a:prstGeom prst="triangl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24528" y="2352890"/>
            <a:ext cx="3246120" cy="3584448"/>
          </a:xfrm>
          <a:prstGeom prst="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224528" y="2352890"/>
            <a:ext cx="3246120" cy="6400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80560" y="2645498"/>
            <a:ext cx="2743200" cy="2468880"/>
          </a:xfrm>
          <a:prstGeom prst="rect">
            <a:avLst/>
          </a:prstGeom>
          <a:noFill/>
        </p:spPr>
        <p:txBody>
          <a:bodyPr wrap="square" lIns="0" rIns="0" tIns="0" bIns="0" anchor="t">
            <a:spAutoFit/>
          </a:bodyPr>
          <a:lstStyle/>
          <a:p>
            <a:pPr algn="l">
              <a:lnSpc>
                <a:spcPct val="112000"/>
              </a:lnSpc>
              <a:spcBef>
                <a:spcPts val="0"/>
              </a:spcBef>
              <a:spcAft>
                <a:spcPts val="1600"/>
              </a:spcAft>
            </a:pPr>
            <a:r>
              <a:rPr sz="1600" b="1" i="0">
                <a:solidFill>
                  <a:srgbClr val="FFFFFF"/>
                </a:solidFill>
                <a:latin typeface="Segoe UI"/>
              </a:rPr>
              <a:t>Document Intelligence Service</a:t>
            </a:r>
          </a:p>
          <a:p>
            <a:pPr algn="l">
              <a:lnSpc>
                <a:spcPct val="125000"/>
              </a:lnSpc>
              <a:spcAft>
                <a:spcPts val="1200"/>
              </a:spcAft>
            </a:pPr>
            <a:r>
              <a:rPr sz="1250" b="0" i="0">
                <a:solidFill>
                  <a:srgbClr val="1D4ED8"/>
                </a:solidFill>
                <a:latin typeface="Segoe UI"/>
              </a:rPr>
              <a:t>— </a:t>
            </a:r>
            <a:r>
              <a:rPr sz="1250" b="0" i="0">
                <a:solidFill>
                  <a:srgbClr val="94A3B8"/>
                </a:solidFill>
                <a:latin typeface="Segoe UI"/>
              </a:rPr>
              <a:t>Validate &amp; cap</a:t>
            </a:r>
          </a:p>
          <a:p>
            <a:pPr algn="l">
              <a:lnSpc>
                <a:spcPct val="125000"/>
              </a:lnSpc>
              <a:spcAft>
                <a:spcPts val="1200"/>
              </a:spcAft>
            </a:pPr>
            <a:r>
              <a:rPr sz="1250" b="0" i="0">
                <a:solidFill>
                  <a:srgbClr val="1D4ED8"/>
                </a:solidFill>
                <a:latin typeface="Segoe UI"/>
              </a:rPr>
              <a:t>— </a:t>
            </a:r>
            <a:r>
              <a:rPr sz="1250" b="0" i="0">
                <a:solidFill>
                  <a:srgbClr val="94A3B8"/>
                </a:solidFill>
                <a:latin typeface="Segoe UI"/>
              </a:rPr>
              <a:t>Detect kind from bytes</a:t>
            </a:r>
          </a:p>
          <a:p>
            <a:pPr algn="l">
              <a:lnSpc>
                <a:spcPct val="125000"/>
              </a:lnSpc>
              <a:spcAft>
                <a:spcPts val="1200"/>
              </a:spcAft>
            </a:pPr>
            <a:r>
              <a:rPr sz="1250" b="0" i="0">
                <a:solidFill>
                  <a:srgbClr val="1D4ED8"/>
                </a:solidFill>
                <a:latin typeface="Segoe UI"/>
              </a:rPr>
              <a:t>— </a:t>
            </a:r>
            <a:r>
              <a:rPr sz="1250" b="0" i="0">
                <a:solidFill>
                  <a:srgbClr val="94A3B8"/>
                </a:solidFill>
                <a:latin typeface="Segoe UI"/>
              </a:rPr>
              <a:t>Route to an engine</a:t>
            </a:r>
          </a:p>
          <a:p>
            <a:pPr algn="l">
              <a:lnSpc>
                <a:spcPct val="125000"/>
              </a:lnSpc>
              <a:spcAft>
                <a:spcPts val="1200"/>
              </a:spcAft>
            </a:pPr>
            <a:r>
              <a:rPr sz="1250" b="0" i="0">
                <a:solidFill>
                  <a:srgbClr val="1D4ED8"/>
                </a:solidFill>
                <a:latin typeface="Segoe UI"/>
              </a:rPr>
              <a:t>— </a:t>
            </a:r>
            <a:r>
              <a:rPr sz="1250" b="0" i="0">
                <a:solidFill>
                  <a:srgbClr val="94A3B8"/>
                </a:solidFill>
                <a:latin typeface="Segoe UI"/>
              </a:rPr>
              <a:t>Reassemble in order</a:t>
            </a:r>
          </a:p>
        </p:txBody>
      </p:sp>
      <p:sp>
        <p:nvSpPr>
          <p:cNvPr id="15" name="TextBox 14"/>
          <p:cNvSpPr txBox="1"/>
          <p:nvPr/>
        </p:nvSpPr>
        <p:spPr>
          <a:xfrm>
            <a:off x="4480560" y="5480138"/>
            <a:ext cx="2743200" cy="365760"/>
          </a:xfrm>
          <a:prstGeom prst="rect">
            <a:avLst/>
          </a:prstGeom>
          <a:noFill/>
        </p:spPr>
        <p:txBody>
          <a:bodyPr wrap="square" lIns="0" rIns="0" tIns="0" bIns="0" anchor="t">
            <a:spAutoFit/>
          </a:bodyPr>
          <a:lstStyle/>
          <a:p>
            <a:pPr algn="l">
              <a:lnSpc>
                <a:spcPct val="120000"/>
              </a:lnSpc>
              <a:spcBef>
                <a:spcPts val="0"/>
              </a:spcBef>
              <a:spcAft>
                <a:spcPts val="0"/>
              </a:spcAft>
            </a:pPr>
            <a:r>
              <a:rPr sz="1100" b="0" i="1">
                <a:solidFill>
                  <a:srgbClr val="1D4ED8"/>
                </a:solidFill>
                <a:latin typeface="Segoe UI"/>
              </a:rPr>
              <a:t>stateless · stores nothing</a:t>
            </a:r>
          </a:p>
        </p:txBody>
      </p:sp>
      <p:sp>
        <p:nvSpPr>
          <p:cNvPr id="16" name="Isosceles Triangle 15"/>
          <p:cNvSpPr/>
          <p:nvPr/>
        </p:nvSpPr>
        <p:spPr>
          <a:xfrm rot="5400000">
            <a:off x="7717536" y="4026242"/>
            <a:ext cx="237744" cy="237744"/>
          </a:xfrm>
          <a:prstGeom prst="triangl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74736" y="2352890"/>
            <a:ext cx="3236976" cy="3584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430768" y="2590634"/>
            <a:ext cx="2743200" cy="3172968"/>
          </a:xfrm>
          <a:prstGeom prst="rect">
            <a:avLst/>
          </a:prstGeom>
          <a:noFill/>
        </p:spPr>
        <p:txBody>
          <a:bodyPr wrap="square" lIns="0" rIns="0" tIns="0" bIns="0" anchor="t">
            <a:spAutoFit/>
          </a:bodyPr>
          <a:lstStyle/>
          <a:p>
            <a:pPr algn="l">
              <a:lnSpc>
                <a:spcPct val="100000"/>
              </a:lnSpc>
              <a:spcBef>
                <a:spcPts val="0"/>
              </a:spcBef>
              <a:spcAft>
                <a:spcPts val="1300"/>
              </a:spcAft>
            </a:pPr>
            <a:r>
              <a:rPr sz="1050" b="1" i="0">
                <a:solidFill>
                  <a:srgbClr val="64748B"/>
                </a:solidFill>
                <a:latin typeface="Segoe UI"/>
              </a:rPr>
              <a:t>OUTPUT — ONE JSON ENVELOPE</a:t>
            </a:r>
          </a:p>
          <a:p>
            <a:pPr algn="l">
              <a:lnSpc>
                <a:spcPct val="120000"/>
              </a:lnSpc>
              <a:spcAft>
                <a:spcPts val="800"/>
              </a:spcAft>
            </a:pPr>
            <a:r>
              <a:rPr sz="1250" b="1" i="0">
                <a:solidFill>
                  <a:srgbClr val="0F172A"/>
                </a:solidFill>
                <a:latin typeface="Segoe UI"/>
              </a:rPr>
              <a:t>Markdown</a:t>
            </a:r>
            <a:r>
              <a:rPr sz="1050" b="0" i="0">
                <a:solidFill>
                  <a:srgbClr val="64748B"/>
                </a:solidFill>
                <a:latin typeface="Segoe UI"/>
              </a:rPr>
              <a:t>
headings, lists, tables preserved</a:t>
            </a:r>
          </a:p>
          <a:p>
            <a:pPr algn="l">
              <a:lnSpc>
                <a:spcPct val="120000"/>
              </a:lnSpc>
              <a:spcAft>
                <a:spcPts val="800"/>
              </a:spcAft>
            </a:pPr>
            <a:r>
              <a:rPr sz="1250" b="1" i="0">
                <a:solidFill>
                  <a:srgbClr val="0F172A"/>
                </a:solidFill>
                <a:latin typeface="Segoe UI"/>
              </a:rPr>
              <a:t>Typed table rows</a:t>
            </a:r>
            <a:r>
              <a:rPr sz="1050" b="0" i="0">
                <a:solidFill>
                  <a:srgbClr val="64748B"/>
                </a:solidFill>
                <a:latin typeface="Segoe UI"/>
              </a:rPr>
              <a:t>
numbers as numbers, dates as ISO-8601</a:t>
            </a:r>
          </a:p>
          <a:p>
            <a:pPr algn="l">
              <a:lnSpc>
                <a:spcPct val="120000"/>
              </a:lnSpc>
              <a:spcAft>
                <a:spcPts val="800"/>
              </a:spcAft>
            </a:pPr>
            <a:r>
              <a:rPr sz="1250" b="1" i="0">
                <a:solidFill>
                  <a:srgbClr val="0F172A"/>
                </a:solidFill>
                <a:latin typeface="Segoe UI"/>
              </a:rPr>
              <a:t>Image descriptions</a:t>
            </a:r>
            <a:r>
              <a:rPr sz="1050" b="0" i="0">
                <a:solidFill>
                  <a:srgbClr val="64748B"/>
                </a:solidFill>
                <a:latin typeface="Segoe UI"/>
              </a:rPr>
              <a:t>
factual, observation-only</a:t>
            </a:r>
          </a:p>
          <a:p>
            <a:pPr algn="l">
              <a:lnSpc>
                <a:spcPct val="120000"/>
              </a:lnSpc>
              <a:spcAft>
                <a:spcPts val="800"/>
              </a:spcAft>
            </a:pPr>
            <a:r>
              <a:rPr sz="1250" b="1" i="0">
                <a:solidFill>
                  <a:srgbClr val="0F172A"/>
                </a:solidFill>
                <a:latin typeface="Segoe UI"/>
              </a:rPr>
              <a:t>Per-file warnings</a:t>
            </a:r>
            <a:r>
              <a:rPr sz="1050" b="0" i="0">
                <a:solidFill>
                  <a:srgbClr val="64748B"/>
                </a:solidFill>
                <a:latin typeface="Segoe UI"/>
              </a:rPr>
              <a:t>
what degraded, and why</a:t>
            </a:r>
          </a:p>
          <a:p>
            <a:pPr algn="l">
              <a:lnSpc>
                <a:spcPct val="120000"/>
              </a:lnSpc>
              <a:spcAft>
                <a:spcPts val="800"/>
              </a:spcAft>
            </a:pPr>
            <a:r>
              <a:rPr sz="1250" b="1" i="0">
                <a:solidFill>
                  <a:srgbClr val="0F172A"/>
                </a:solidFill>
                <a:latin typeface="Segoe UI"/>
              </a:rPr>
              <a:t>Per-file errors</a:t>
            </a:r>
            <a:r>
              <a:rPr sz="1050" b="0" i="0">
                <a:solidFill>
                  <a:srgbClr val="64748B"/>
                </a:solidFill>
                <a:latin typeface="Segoe UI"/>
              </a:rPr>
              <a:t>
machine-readable codes</a:t>
            </a:r>
          </a:p>
        </p:txBody>
      </p:sp>
      <p:sp>
        <p:nvSpPr>
          <p:cNvPr id="19" name="TextBox 18"/>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C2410C"/>
                </a:solidFill>
                <a:latin typeface="Segoe UI"/>
              </a:rPr>
              <a:t>DESIGN PRINCIPLE</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Extraction is not interpretation</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The service reports what is in a document. It never decides what that means. That judgment belongs to the agent.</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352890"/>
            <a:ext cx="5166360" cy="22128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77240" y="2352890"/>
            <a:ext cx="5166360" cy="50292"/>
          </a:xfrm>
          <a:prstGeom prst="rect">
            <a:avLst/>
          </a:prstGeom>
          <a:solidFill>
            <a:srgbClr val="157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69848" y="2608922"/>
            <a:ext cx="4599432" cy="1801368"/>
          </a:xfrm>
          <a:prstGeom prst="rect">
            <a:avLst/>
          </a:prstGeom>
          <a:noFill/>
        </p:spPr>
        <p:txBody>
          <a:bodyPr wrap="square" lIns="0" rIns="0" tIns="0" bIns="0" anchor="t">
            <a:spAutoFit/>
          </a:bodyPr>
          <a:lstStyle/>
          <a:p>
            <a:pPr algn="l">
              <a:lnSpc>
                <a:spcPct val="110000"/>
              </a:lnSpc>
              <a:spcBef>
                <a:spcPts val="0"/>
              </a:spcBef>
              <a:spcAft>
                <a:spcPts val="1300"/>
              </a:spcAft>
            </a:pPr>
            <a:r>
              <a:rPr sz="1500" b="1" i="0">
                <a:solidFill>
                  <a:srgbClr val="0F172A"/>
                </a:solidFill>
                <a:latin typeface="Segoe UI"/>
              </a:rPr>
              <a:t>What the service returns</a:t>
            </a:r>
          </a:p>
          <a:p>
            <a:pPr algn="l">
              <a:lnSpc>
                <a:spcPct val="125000"/>
              </a:lnSpc>
              <a:spcAft>
                <a:spcPts val="1000"/>
              </a:spcAft>
            </a:pPr>
            <a:r>
              <a:rPr sz="1300" b="1" i="0">
                <a:solidFill>
                  <a:srgbClr val="157F3C"/>
                </a:solidFill>
                <a:latin typeface="Segoe UI"/>
              </a:rPr>
              <a:t>✓  </a:t>
            </a:r>
            <a:r>
              <a:rPr sz="1300" b="0" i="0">
                <a:solidFill>
                  <a:srgbClr val="64748B"/>
                </a:solidFill>
                <a:latin typeface="Segoe UI"/>
              </a:rPr>
              <a:t>Text, structure and layout as written</a:t>
            </a:r>
          </a:p>
          <a:p>
            <a:pPr algn="l">
              <a:lnSpc>
                <a:spcPct val="125000"/>
              </a:lnSpc>
              <a:spcAft>
                <a:spcPts val="1000"/>
              </a:spcAft>
            </a:pPr>
            <a:r>
              <a:rPr sz="1300" b="1" i="0">
                <a:solidFill>
                  <a:srgbClr val="157F3C"/>
                </a:solidFill>
                <a:latin typeface="Segoe UI"/>
              </a:rPr>
              <a:t>✓  </a:t>
            </a:r>
            <a:r>
              <a:rPr sz="1300" b="0" i="0">
                <a:solidFill>
                  <a:srgbClr val="64748B"/>
                </a:solidFill>
                <a:latin typeface="Segoe UI"/>
              </a:rPr>
              <a:t>Cell values exactly as stored in the file</a:t>
            </a:r>
          </a:p>
          <a:p>
            <a:pPr algn="l">
              <a:lnSpc>
                <a:spcPct val="125000"/>
              </a:lnSpc>
              <a:spcAft>
                <a:spcPts val="1000"/>
              </a:spcAft>
            </a:pPr>
            <a:r>
              <a:rPr sz="1300" b="1" i="0">
                <a:solidFill>
                  <a:srgbClr val="157F3C"/>
                </a:solidFill>
                <a:latin typeface="Segoe UI"/>
              </a:rPr>
              <a:t>✓  </a:t>
            </a:r>
            <a:r>
              <a:rPr sz="1300" b="0" i="0">
                <a:solidFill>
                  <a:srgbClr val="64748B"/>
                </a:solidFill>
                <a:latin typeface="Segoe UI"/>
              </a:rPr>
              <a:t>Visible objects, markings and transcribed text</a:t>
            </a:r>
          </a:p>
          <a:p>
            <a:pPr algn="l">
              <a:lnSpc>
                <a:spcPct val="125000"/>
              </a:lnSpc>
              <a:spcAft>
                <a:spcPts val="1000"/>
              </a:spcAft>
            </a:pPr>
            <a:r>
              <a:rPr sz="1300" b="1" i="0">
                <a:solidFill>
                  <a:srgbClr val="157F3C"/>
                </a:solidFill>
                <a:latin typeface="Segoe UI"/>
              </a:rPr>
              <a:t>✓  </a:t>
            </a:r>
            <a:r>
              <a:rPr sz="1300" b="0" i="0">
                <a:solidFill>
                  <a:srgbClr val="64748B"/>
                </a:solidFill>
                <a:latin typeface="Segoe UI"/>
              </a:rPr>
              <a:t>Warnings when something degraded</a:t>
            </a:r>
          </a:p>
        </p:txBody>
      </p:sp>
      <p:sp>
        <p:nvSpPr>
          <p:cNvPr id="11" name="Rectangle 10"/>
          <p:cNvSpPr/>
          <p:nvPr/>
        </p:nvSpPr>
        <p:spPr>
          <a:xfrm>
            <a:off x="6263640" y="2352890"/>
            <a:ext cx="5148072" cy="22128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63640" y="2352890"/>
            <a:ext cx="5148072" cy="50292"/>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56248" y="2608922"/>
            <a:ext cx="4581144" cy="1801368"/>
          </a:xfrm>
          <a:prstGeom prst="rect">
            <a:avLst/>
          </a:prstGeom>
          <a:noFill/>
        </p:spPr>
        <p:txBody>
          <a:bodyPr wrap="square" lIns="0" rIns="0" tIns="0" bIns="0" anchor="t">
            <a:spAutoFit/>
          </a:bodyPr>
          <a:lstStyle/>
          <a:p>
            <a:pPr algn="l">
              <a:lnSpc>
                <a:spcPct val="110000"/>
              </a:lnSpc>
              <a:spcBef>
                <a:spcPts val="0"/>
              </a:spcBef>
              <a:spcAft>
                <a:spcPts val="1300"/>
              </a:spcAft>
            </a:pPr>
            <a:r>
              <a:rPr sz="1500" b="1" i="0">
                <a:solidFill>
                  <a:srgbClr val="0F172A"/>
                </a:solidFill>
                <a:latin typeface="Segoe UI"/>
              </a:rPr>
              <a:t>What it deliberately refuses to do</a:t>
            </a:r>
          </a:p>
          <a:p>
            <a:pPr algn="l">
              <a:lnSpc>
                <a:spcPct val="125000"/>
              </a:lnSpc>
              <a:spcAft>
                <a:spcPts val="1000"/>
              </a:spcAft>
            </a:pPr>
            <a:r>
              <a:rPr sz="1300" b="1" i="0">
                <a:solidFill>
                  <a:srgbClr val="C2410C"/>
                </a:solidFill>
                <a:latin typeface="Segoe UI"/>
              </a:rPr>
              <a:t>✗  </a:t>
            </a:r>
            <a:r>
              <a:rPr sz="1300" b="0" i="0">
                <a:solidFill>
                  <a:srgbClr val="64748B"/>
                </a:solidFill>
                <a:latin typeface="Segoe UI"/>
              </a:rPr>
              <a:t>Classify a document into a category</a:t>
            </a:r>
          </a:p>
          <a:p>
            <a:pPr algn="l">
              <a:lnSpc>
                <a:spcPct val="125000"/>
              </a:lnSpc>
              <a:spcAft>
                <a:spcPts val="1000"/>
              </a:spcAft>
            </a:pPr>
            <a:r>
              <a:rPr sz="1300" b="1" i="0">
                <a:solidFill>
                  <a:srgbClr val="C2410C"/>
                </a:solidFill>
                <a:latin typeface="Segoe UI"/>
              </a:rPr>
              <a:t>✗  </a:t>
            </a:r>
            <a:r>
              <a:rPr sz="1300" b="0" i="0">
                <a:solidFill>
                  <a:srgbClr val="64748B"/>
                </a:solidFill>
                <a:latin typeface="Segoe UI"/>
              </a:rPr>
              <a:t>Score, rate or judge what it found</a:t>
            </a:r>
          </a:p>
          <a:p>
            <a:pPr algn="l">
              <a:lnSpc>
                <a:spcPct val="125000"/>
              </a:lnSpc>
              <a:spcAft>
                <a:spcPts val="1000"/>
              </a:spcAft>
            </a:pPr>
            <a:r>
              <a:rPr sz="1300" b="1" i="0">
                <a:solidFill>
                  <a:srgbClr val="C2410C"/>
                </a:solidFill>
                <a:latin typeface="Segoe UI"/>
              </a:rPr>
              <a:t>✗  </a:t>
            </a:r>
            <a:r>
              <a:rPr sz="1300" b="0" i="0">
                <a:solidFill>
                  <a:srgbClr val="64748B"/>
                </a:solidFill>
                <a:latin typeface="Segoe UI"/>
              </a:rPr>
              <a:t>Infer purpose or intent from an image</a:t>
            </a:r>
          </a:p>
          <a:p>
            <a:pPr algn="l">
              <a:lnSpc>
                <a:spcPct val="125000"/>
              </a:lnSpc>
              <a:spcAft>
                <a:spcPts val="1000"/>
              </a:spcAft>
            </a:pPr>
            <a:r>
              <a:rPr sz="1300" b="1" i="0">
                <a:solidFill>
                  <a:srgbClr val="C2410C"/>
                </a:solidFill>
                <a:latin typeface="Segoe UI"/>
              </a:rPr>
              <a:t>✗  </a:t>
            </a:r>
            <a:r>
              <a:rPr sz="1300" b="0" i="0">
                <a:solidFill>
                  <a:srgbClr val="64748B"/>
                </a:solidFill>
                <a:latin typeface="Segoe UI"/>
              </a:rPr>
              <a:t>Assert anything not visible in the file</a:t>
            </a:r>
          </a:p>
        </p:txBody>
      </p:sp>
      <p:sp>
        <p:nvSpPr>
          <p:cNvPr id="14" name="Rectangle 13"/>
          <p:cNvSpPr/>
          <p:nvPr/>
        </p:nvSpPr>
        <p:spPr>
          <a:xfrm>
            <a:off x="777240" y="4840058"/>
            <a:ext cx="10637215" cy="11887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77240" y="4840058"/>
            <a:ext cx="50292" cy="118872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97280" y="5022938"/>
            <a:ext cx="9951415" cy="914400"/>
          </a:xfrm>
          <a:prstGeom prst="rect">
            <a:avLst/>
          </a:prstGeom>
          <a:noFill/>
        </p:spPr>
        <p:txBody>
          <a:bodyPr wrap="square" lIns="0" rIns="0" tIns="0" bIns="0" anchor="t">
            <a:spAutoFit/>
          </a:bodyPr>
          <a:lstStyle/>
          <a:p>
            <a:pPr algn="l">
              <a:lnSpc>
                <a:spcPct val="110000"/>
              </a:lnSpc>
              <a:spcBef>
                <a:spcPts val="0"/>
              </a:spcBef>
              <a:spcAft>
                <a:spcPts val="700"/>
              </a:spcAft>
            </a:pPr>
            <a:r>
              <a:rPr sz="1350" b="1" i="0">
                <a:solidFill>
                  <a:srgbClr val="0F172A"/>
                </a:solidFill>
                <a:latin typeface="Segoe UI"/>
              </a:rPr>
              <a:t>Why this matters when an agent is the consumer</a:t>
            </a:r>
          </a:p>
          <a:p>
            <a:pPr algn="l">
              <a:lnSpc>
                <a:spcPct val="130000"/>
              </a:lnSpc>
              <a:spcBef>
                <a:spcPts val="0"/>
              </a:spcBef>
              <a:spcAft>
                <a:spcPts val="0"/>
              </a:spcAft>
            </a:pPr>
            <a:r>
              <a:rPr sz="1250" b="0" i="0">
                <a:solidFill>
                  <a:srgbClr val="64748B"/>
                </a:solidFill>
                <a:latin typeface="Segoe UI"/>
              </a:rPr>
              <a:t>All the semantics live in one place — your agent's prompt — instead of being quietly baked into an extraction layer you cannot inspect. The same extraction then feeds many different agents with different goals, and when the reasoning is wrong you know exactly which layer to fix.</a:t>
            </a:r>
          </a:p>
        </p:txBody>
      </p:sp>
      <p:sp>
        <p:nvSpPr>
          <p:cNvPr id="17" name="TextBox 16"/>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74320"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2926080" cy="1463040"/>
          </a:xfrm>
          <a:prstGeom prst="rect">
            <a:avLst/>
          </a:prstGeom>
          <a:noFill/>
        </p:spPr>
        <p:txBody>
          <a:bodyPr wrap="square" lIns="0" rIns="0" tIns="0" bIns="0" anchor="t">
            <a:spAutoFit/>
          </a:bodyPr>
          <a:lstStyle/>
          <a:p>
            <a:pPr algn="l">
              <a:lnSpc>
                <a:spcPct val="100000"/>
              </a:lnSpc>
              <a:spcBef>
                <a:spcPts val="0"/>
              </a:spcBef>
              <a:spcAft>
                <a:spcPts val="0"/>
              </a:spcAft>
            </a:pPr>
            <a:r>
              <a:rPr sz="7600" b="1" i="0">
                <a:solidFill>
                  <a:srgbClr val="172440"/>
                </a:solidFill>
                <a:latin typeface="Segoe UI"/>
              </a:rPr>
              <a:t>01</a:t>
            </a:r>
          </a:p>
        </p:txBody>
      </p:sp>
      <p:sp>
        <p:nvSpPr>
          <p:cNvPr id="5" name="TextBox 4"/>
          <p:cNvSpPr txBox="1"/>
          <p:nvPr/>
        </p:nvSpPr>
        <p:spPr>
          <a:xfrm>
            <a:off x="1371600" y="3246120"/>
            <a:ext cx="8686800" cy="914400"/>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egoe UI"/>
              </a:rPr>
              <a:t>Working with AI agents</a:t>
            </a:r>
          </a:p>
        </p:txBody>
      </p:sp>
      <p:sp>
        <p:nvSpPr>
          <p:cNvPr id="6" name="Rectangle 5"/>
          <p:cNvSpPr/>
          <p:nvPr/>
        </p:nvSpPr>
        <p:spPr>
          <a:xfrm>
            <a:off x="1371600" y="4224528"/>
            <a:ext cx="1280160" cy="411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371600" y="4498848"/>
            <a:ext cx="8229600"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0">
                <a:solidFill>
                  <a:srgbClr val="94A3B8"/>
                </a:solidFill>
                <a:latin typeface="Segoe UI"/>
              </a:rPr>
              <a:t>What it unlocks, and why the output shape is the point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D4ED8"/>
                </a:solidFill>
                <a:latin typeface="Segoe UI"/>
              </a:rPr>
              <a:t>INTEGRATION</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One tool in the agent's toolbelt</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Exposed to the agent as a single callable function — over native tool calling, or wrapped behind an MCP server.</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352890"/>
            <a:ext cx="2453563" cy="187451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77240" y="2352890"/>
            <a:ext cx="45720" cy="1874519"/>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51560" y="2572346"/>
            <a:ext cx="1950643" cy="1527048"/>
          </a:xfrm>
          <a:prstGeom prst="rect">
            <a:avLst/>
          </a:prstGeom>
          <a:noFill/>
        </p:spPr>
        <p:txBody>
          <a:bodyPr wrap="square" lIns="0" rIns="0" tIns="0" bIns="0" anchor="t">
            <a:spAutoFit/>
          </a:bodyPr>
          <a:lstStyle/>
          <a:p>
            <a:pPr algn="l">
              <a:lnSpc>
                <a:spcPct val="100000"/>
              </a:lnSpc>
              <a:spcBef>
                <a:spcPts val="0"/>
              </a:spcBef>
              <a:spcAft>
                <a:spcPts val="400"/>
              </a:spcAft>
            </a:pPr>
            <a:r>
              <a:rPr sz="1100" b="1" i="0">
                <a:solidFill>
                  <a:srgbClr val="1D4ED8"/>
                </a:solidFill>
                <a:latin typeface="Segoe UI"/>
              </a:rPr>
              <a:t>STEP 1</a:t>
            </a:r>
          </a:p>
          <a:p>
            <a:pPr algn="l">
              <a:lnSpc>
                <a:spcPct val="115000"/>
              </a:lnSpc>
              <a:spcBef>
                <a:spcPts val="0"/>
              </a:spcBef>
              <a:spcAft>
                <a:spcPts val="500"/>
              </a:spcAft>
            </a:pPr>
            <a:r>
              <a:rPr sz="1400" b="1" i="0">
                <a:solidFill>
                  <a:srgbClr val="0F172A"/>
                </a:solidFill>
                <a:latin typeface="Segoe UI"/>
              </a:rPr>
              <a:t>User attaches files</a:t>
            </a:r>
          </a:p>
          <a:p>
            <a:pPr algn="l">
              <a:lnSpc>
                <a:spcPct val="126000"/>
              </a:lnSpc>
              <a:spcBef>
                <a:spcPts val="0"/>
              </a:spcBef>
              <a:spcAft>
                <a:spcPts val="0"/>
              </a:spcAft>
            </a:pPr>
            <a:r>
              <a:rPr sz="1150" b="0" i="0">
                <a:solidFill>
                  <a:srgbClr val="64748B"/>
                </a:solidFill>
                <a:latin typeface="Segoe UI"/>
              </a:rPr>
              <a:t>A chat turn arrives with a PDF, a spreadsheet and two photos.</a:t>
            </a:r>
          </a:p>
        </p:txBody>
      </p:sp>
      <p:sp>
        <p:nvSpPr>
          <p:cNvPr id="11" name="Isosceles Triangle 10"/>
          <p:cNvSpPr/>
          <p:nvPr/>
        </p:nvSpPr>
        <p:spPr>
          <a:xfrm rot="5400000">
            <a:off x="3258235" y="3180422"/>
            <a:ext cx="219456" cy="219456"/>
          </a:xfrm>
          <a:prstGeom prst="triangl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5123" y="2352890"/>
            <a:ext cx="2453563" cy="187451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505123" y="2352890"/>
            <a:ext cx="45720" cy="1874519"/>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779443" y="2572346"/>
            <a:ext cx="1950643" cy="1527048"/>
          </a:xfrm>
          <a:prstGeom prst="rect">
            <a:avLst/>
          </a:prstGeom>
          <a:noFill/>
        </p:spPr>
        <p:txBody>
          <a:bodyPr wrap="square" lIns="0" rIns="0" tIns="0" bIns="0" anchor="t">
            <a:spAutoFit/>
          </a:bodyPr>
          <a:lstStyle/>
          <a:p>
            <a:pPr algn="l">
              <a:lnSpc>
                <a:spcPct val="100000"/>
              </a:lnSpc>
              <a:spcBef>
                <a:spcPts val="0"/>
              </a:spcBef>
              <a:spcAft>
                <a:spcPts val="400"/>
              </a:spcAft>
            </a:pPr>
            <a:r>
              <a:rPr sz="1100" b="1" i="0">
                <a:solidFill>
                  <a:srgbClr val="1D4ED8"/>
                </a:solidFill>
                <a:latin typeface="Segoe UI"/>
              </a:rPr>
              <a:t>STEP 2</a:t>
            </a:r>
          </a:p>
          <a:p>
            <a:pPr algn="l">
              <a:lnSpc>
                <a:spcPct val="115000"/>
              </a:lnSpc>
              <a:spcBef>
                <a:spcPts val="0"/>
              </a:spcBef>
              <a:spcAft>
                <a:spcPts val="500"/>
              </a:spcAft>
            </a:pPr>
            <a:r>
              <a:rPr sz="1400" b="1" i="0">
                <a:solidFill>
                  <a:srgbClr val="0F172A"/>
                </a:solidFill>
                <a:latin typeface="Segoe UI"/>
              </a:rPr>
              <a:t>Agent calls the tool</a:t>
            </a:r>
          </a:p>
          <a:p>
            <a:pPr algn="l">
              <a:lnSpc>
                <a:spcPct val="126000"/>
              </a:lnSpc>
              <a:spcBef>
                <a:spcPts val="0"/>
              </a:spcBef>
              <a:spcAft>
                <a:spcPts val="0"/>
              </a:spcAft>
            </a:pPr>
            <a:r>
              <a:rPr sz="1150" b="0" i="0">
                <a:solidFill>
                  <a:srgbClr val="64748B"/>
                </a:solidFill>
                <a:latin typeface="Segoe UI"/>
              </a:rPr>
              <a:t>One call, all four files, with an optional per-file hint.</a:t>
            </a:r>
          </a:p>
        </p:txBody>
      </p:sp>
      <p:sp>
        <p:nvSpPr>
          <p:cNvPr id="15" name="Isosceles Triangle 14"/>
          <p:cNvSpPr/>
          <p:nvPr/>
        </p:nvSpPr>
        <p:spPr>
          <a:xfrm rot="5400000">
            <a:off x="5986119" y="3180422"/>
            <a:ext cx="219456" cy="219456"/>
          </a:xfrm>
          <a:prstGeom prst="triangl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2352890"/>
            <a:ext cx="2453563" cy="187451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33007" y="2352890"/>
            <a:ext cx="45720" cy="1874519"/>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07327" y="2572346"/>
            <a:ext cx="1950643" cy="1527048"/>
          </a:xfrm>
          <a:prstGeom prst="rect">
            <a:avLst/>
          </a:prstGeom>
          <a:noFill/>
        </p:spPr>
        <p:txBody>
          <a:bodyPr wrap="square" lIns="0" rIns="0" tIns="0" bIns="0" anchor="t">
            <a:spAutoFit/>
          </a:bodyPr>
          <a:lstStyle/>
          <a:p>
            <a:pPr algn="l">
              <a:lnSpc>
                <a:spcPct val="100000"/>
              </a:lnSpc>
              <a:spcBef>
                <a:spcPts val="0"/>
              </a:spcBef>
              <a:spcAft>
                <a:spcPts val="400"/>
              </a:spcAft>
            </a:pPr>
            <a:r>
              <a:rPr sz="1100" b="1" i="0">
                <a:solidFill>
                  <a:srgbClr val="1D4ED8"/>
                </a:solidFill>
                <a:latin typeface="Segoe UI"/>
              </a:rPr>
              <a:t>STEP 3</a:t>
            </a:r>
          </a:p>
          <a:p>
            <a:pPr algn="l">
              <a:lnSpc>
                <a:spcPct val="115000"/>
              </a:lnSpc>
              <a:spcBef>
                <a:spcPts val="0"/>
              </a:spcBef>
              <a:spcAft>
                <a:spcPts val="500"/>
              </a:spcAft>
            </a:pPr>
            <a:r>
              <a:rPr sz="1400" b="1" i="0">
                <a:solidFill>
                  <a:srgbClr val="0F172A"/>
                </a:solidFill>
                <a:latin typeface="Segoe UI"/>
              </a:rPr>
              <a:t>Service extracts</a:t>
            </a:r>
          </a:p>
          <a:p>
            <a:pPr algn="l">
              <a:lnSpc>
                <a:spcPct val="126000"/>
              </a:lnSpc>
              <a:spcBef>
                <a:spcPts val="0"/>
              </a:spcBef>
              <a:spcAft>
                <a:spcPts val="0"/>
              </a:spcAft>
            </a:pPr>
            <a:r>
              <a:rPr sz="1150" b="0" i="0">
                <a:solidFill>
                  <a:srgbClr val="64748B"/>
                </a:solidFill>
                <a:latin typeface="Segoe UI"/>
              </a:rPr>
              <a:t>Each file routed to the engine for its kind, in parallel.</a:t>
            </a:r>
          </a:p>
        </p:txBody>
      </p:sp>
      <p:sp>
        <p:nvSpPr>
          <p:cNvPr id="19" name="Isosceles Triangle 18"/>
          <p:cNvSpPr/>
          <p:nvPr/>
        </p:nvSpPr>
        <p:spPr>
          <a:xfrm rot="5400000">
            <a:off x="8714003" y="3180422"/>
            <a:ext cx="219456" cy="219456"/>
          </a:xfrm>
          <a:prstGeom prst="triangl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0891" y="2352890"/>
            <a:ext cx="2453563" cy="187451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960891" y="2352890"/>
            <a:ext cx="45720" cy="1874519"/>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235211" y="2572346"/>
            <a:ext cx="1950643" cy="1527048"/>
          </a:xfrm>
          <a:prstGeom prst="rect">
            <a:avLst/>
          </a:prstGeom>
          <a:noFill/>
        </p:spPr>
        <p:txBody>
          <a:bodyPr wrap="square" lIns="0" rIns="0" tIns="0" bIns="0" anchor="t">
            <a:spAutoFit/>
          </a:bodyPr>
          <a:lstStyle/>
          <a:p>
            <a:pPr algn="l">
              <a:lnSpc>
                <a:spcPct val="100000"/>
              </a:lnSpc>
              <a:spcBef>
                <a:spcPts val="0"/>
              </a:spcBef>
              <a:spcAft>
                <a:spcPts val="400"/>
              </a:spcAft>
            </a:pPr>
            <a:r>
              <a:rPr sz="1100" b="1" i="0">
                <a:solidFill>
                  <a:srgbClr val="1D4ED8"/>
                </a:solidFill>
                <a:latin typeface="Segoe UI"/>
              </a:rPr>
              <a:t>STEP 4</a:t>
            </a:r>
          </a:p>
          <a:p>
            <a:pPr algn="l">
              <a:lnSpc>
                <a:spcPct val="115000"/>
              </a:lnSpc>
              <a:spcBef>
                <a:spcPts val="0"/>
              </a:spcBef>
              <a:spcAft>
                <a:spcPts val="500"/>
              </a:spcAft>
            </a:pPr>
            <a:r>
              <a:rPr sz="1400" b="1" i="0">
                <a:solidFill>
                  <a:srgbClr val="0F172A"/>
                </a:solidFill>
                <a:latin typeface="Segoe UI"/>
              </a:rPr>
              <a:t>Agent reasons</a:t>
            </a:r>
          </a:p>
          <a:p>
            <a:pPr algn="l">
              <a:lnSpc>
                <a:spcPct val="126000"/>
              </a:lnSpc>
              <a:spcBef>
                <a:spcPts val="0"/>
              </a:spcBef>
              <a:spcAft>
                <a:spcPts val="0"/>
              </a:spcAft>
            </a:pPr>
            <a:r>
              <a:rPr sz="1150" b="0" i="0">
                <a:solidFill>
                  <a:srgbClr val="64748B"/>
                </a:solidFill>
                <a:latin typeface="Segoe UI"/>
              </a:rPr>
              <a:t>Markdown and typed rows land back in context as ordinary text.</a:t>
            </a:r>
          </a:p>
        </p:txBody>
      </p:sp>
      <p:sp>
        <p:nvSpPr>
          <p:cNvPr id="23" name="Rectangle 22"/>
          <p:cNvSpPr/>
          <p:nvPr/>
        </p:nvSpPr>
        <p:spPr>
          <a:xfrm>
            <a:off x="777240" y="4538306"/>
            <a:ext cx="10637215" cy="14447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97280" y="4739474"/>
            <a:ext cx="4937760" cy="1143000"/>
          </a:xfrm>
          <a:prstGeom prst="rect">
            <a:avLst/>
          </a:prstGeom>
          <a:noFill/>
        </p:spPr>
        <p:txBody>
          <a:bodyPr wrap="square" lIns="0" rIns="0" tIns="0" bIns="0" anchor="t">
            <a:spAutoFit/>
          </a:bodyPr>
          <a:lstStyle/>
          <a:p>
            <a:pPr algn="l">
              <a:lnSpc>
                <a:spcPct val="110000"/>
              </a:lnSpc>
              <a:spcBef>
                <a:spcPts val="0"/>
              </a:spcBef>
              <a:spcAft>
                <a:spcPts val="900"/>
              </a:spcAft>
            </a:pPr>
            <a:r>
              <a:rPr sz="1350" b="1" i="0">
                <a:solidFill>
                  <a:srgbClr val="0F172A"/>
                </a:solidFill>
                <a:latin typeface="Segoe UI"/>
              </a:rPr>
              <a:t>What makes it tool-shaped</a:t>
            </a:r>
          </a:p>
          <a:p>
            <a:pPr algn="l">
              <a:lnSpc>
                <a:spcPct val="125000"/>
              </a:lnSpc>
              <a:spcAft>
                <a:spcPts val="700"/>
              </a:spcAft>
            </a:pPr>
            <a:r>
              <a:rPr sz="1250" b="1" i="0">
                <a:solidFill>
                  <a:srgbClr val="1D4ED8"/>
                </a:solidFill>
                <a:latin typeface="Segoe UI"/>
              </a:rPr>
              <a:t>·  </a:t>
            </a:r>
            <a:r>
              <a:rPr sz="1250" b="0" i="0">
                <a:solidFill>
                  <a:srgbClr val="64748B"/>
                </a:solidFill>
                <a:latin typeface="Segoe UI"/>
              </a:rPr>
              <a:t>Synchronous — no polling, no job handles, no callbacks</a:t>
            </a:r>
          </a:p>
          <a:p>
            <a:pPr algn="l">
              <a:lnSpc>
                <a:spcPct val="125000"/>
              </a:lnSpc>
              <a:spcAft>
                <a:spcPts val="700"/>
              </a:spcAft>
            </a:pPr>
            <a:r>
              <a:rPr sz="1250" b="1" i="0">
                <a:solidFill>
                  <a:srgbClr val="1D4ED8"/>
                </a:solidFill>
                <a:latin typeface="Segoe UI"/>
              </a:rPr>
              <a:t>·  </a:t>
            </a:r>
            <a:r>
              <a:rPr sz="1250" b="0" i="0">
                <a:solidFill>
                  <a:srgbClr val="64748B"/>
                </a:solidFill>
                <a:latin typeface="Segoe UI"/>
              </a:rPr>
              <a:t>Bounded latency — per-file timeout fits a tool-call budget</a:t>
            </a:r>
          </a:p>
          <a:p>
            <a:pPr algn="l">
              <a:lnSpc>
                <a:spcPct val="125000"/>
              </a:lnSpc>
              <a:spcAft>
                <a:spcPts val="700"/>
              </a:spcAft>
            </a:pPr>
            <a:r>
              <a:rPr sz="1250" b="1" i="0">
                <a:solidFill>
                  <a:srgbClr val="1D4ED8"/>
                </a:solidFill>
                <a:latin typeface="Segoe UI"/>
              </a:rPr>
              <a:t>·  </a:t>
            </a:r>
            <a:r>
              <a:rPr sz="1250" b="0" i="0">
                <a:solidFill>
                  <a:srgbClr val="64748B"/>
                </a:solidFill>
                <a:latin typeface="Segoe UI"/>
              </a:rPr>
              <a:t>Batched — one call covers the whole attachment set</a:t>
            </a:r>
          </a:p>
        </p:txBody>
      </p:sp>
      <p:sp>
        <p:nvSpPr>
          <p:cNvPr id="25" name="TextBox 24"/>
          <p:cNvSpPr txBox="1"/>
          <p:nvPr/>
        </p:nvSpPr>
        <p:spPr>
          <a:xfrm>
            <a:off x="6355080" y="4739474"/>
            <a:ext cx="4937760" cy="1143000"/>
          </a:xfrm>
          <a:prstGeom prst="rect">
            <a:avLst/>
          </a:prstGeom>
          <a:noFill/>
        </p:spPr>
        <p:txBody>
          <a:bodyPr wrap="square" lIns="0" rIns="0" tIns="0" bIns="0" anchor="t">
            <a:spAutoFit/>
          </a:bodyPr>
          <a:lstStyle/>
          <a:p>
            <a:pPr algn="l">
              <a:lnSpc>
                <a:spcPct val="110000"/>
              </a:lnSpc>
              <a:spcBef>
                <a:spcPts val="0"/>
              </a:spcBef>
              <a:spcAft>
                <a:spcPts val="900"/>
              </a:spcAft>
            </a:pPr>
            <a:r>
              <a:rPr sz="1350" b="1" i="0">
                <a:solidFill>
                  <a:srgbClr val="0F172A"/>
                </a:solidFill>
                <a:latin typeface="Segoe UI"/>
              </a:rPr>
              <a:t>What the agent never has to do</a:t>
            </a:r>
          </a:p>
          <a:p>
            <a:pPr algn="l">
              <a:lnSpc>
                <a:spcPct val="125000"/>
              </a:lnSpc>
              <a:spcAft>
                <a:spcPts val="700"/>
              </a:spcAft>
            </a:pPr>
            <a:r>
              <a:rPr sz="1250" b="1" i="0">
                <a:solidFill>
                  <a:srgbClr val="C2410C"/>
                </a:solidFill>
                <a:latin typeface="Segoe UI"/>
              </a:rPr>
              <a:t>·  </a:t>
            </a:r>
            <a:r>
              <a:rPr sz="1250" b="0" i="0">
                <a:solidFill>
                  <a:srgbClr val="64748B"/>
                </a:solidFill>
                <a:latin typeface="Segoe UI"/>
              </a:rPr>
              <a:t>Branch on file type before calling</a:t>
            </a:r>
          </a:p>
          <a:p>
            <a:pPr algn="l">
              <a:lnSpc>
                <a:spcPct val="125000"/>
              </a:lnSpc>
              <a:spcAft>
                <a:spcPts val="700"/>
              </a:spcAft>
            </a:pPr>
            <a:r>
              <a:rPr sz="1250" b="1" i="0">
                <a:solidFill>
                  <a:srgbClr val="C2410C"/>
                </a:solidFill>
                <a:latin typeface="Segoe UI"/>
              </a:rPr>
              <a:t>·  </a:t>
            </a:r>
            <a:r>
              <a:rPr sz="1250" b="0" i="0">
                <a:solidFill>
                  <a:srgbClr val="64748B"/>
                </a:solidFill>
                <a:latin typeface="Segoe UI"/>
              </a:rPr>
              <a:t>Parse a bespoke response format per kind</a:t>
            </a:r>
          </a:p>
          <a:p>
            <a:pPr algn="l">
              <a:lnSpc>
                <a:spcPct val="125000"/>
              </a:lnSpc>
              <a:spcAft>
                <a:spcPts val="700"/>
              </a:spcAft>
            </a:pPr>
            <a:r>
              <a:rPr sz="1250" b="1" i="0">
                <a:solidFill>
                  <a:srgbClr val="C2410C"/>
                </a:solidFill>
                <a:latin typeface="Segoe UI"/>
              </a:rPr>
              <a:t>·  </a:t>
            </a:r>
            <a:r>
              <a:rPr sz="1250" b="0" i="0">
                <a:solidFill>
                  <a:srgbClr val="64748B"/>
                </a:solidFill>
                <a:latin typeface="Segoe UI"/>
              </a:rPr>
              <a:t>Retry the whole batch because one file was bad</a:t>
            </a:r>
          </a:p>
        </p:txBody>
      </p:sp>
      <p:sp>
        <p:nvSpPr>
          <p:cNvPr id="26" name="TextBox 25"/>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D4ED8"/>
                </a:solidFill>
                <a:latin typeface="Segoe UI"/>
              </a:rPr>
              <a:t>USE CASES</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What agents build on top of it</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Anything where the reasoning is easy but the reading is hard.</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352890"/>
            <a:ext cx="3375050" cy="16642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77240" y="2352890"/>
            <a:ext cx="45720" cy="166420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51560" y="2572346"/>
            <a:ext cx="2872130" cy="1316736"/>
          </a:xfrm>
          <a:prstGeom prst="rect">
            <a:avLst/>
          </a:prstGeom>
          <a:noFill/>
        </p:spPr>
        <p:txBody>
          <a:bodyPr wrap="square" lIns="0" rIns="0" tIns="0" bIns="0" anchor="t">
            <a:spAutoFit/>
          </a:bodyPr>
          <a:lstStyle/>
          <a:p>
            <a:pPr algn="l">
              <a:lnSpc>
                <a:spcPct val="115000"/>
              </a:lnSpc>
              <a:spcBef>
                <a:spcPts val="0"/>
              </a:spcBef>
              <a:spcAft>
                <a:spcPts val="500"/>
              </a:spcAft>
            </a:pPr>
            <a:r>
              <a:rPr sz="1450" b="1" i="0">
                <a:solidFill>
                  <a:srgbClr val="0F172A"/>
                </a:solidFill>
                <a:latin typeface="Segoe UI"/>
              </a:rPr>
              <a:t>Document Q&amp;A over mixed uploads</a:t>
            </a:r>
          </a:p>
          <a:p>
            <a:pPr algn="l">
              <a:lnSpc>
                <a:spcPct val="126000"/>
              </a:lnSpc>
              <a:spcBef>
                <a:spcPts val="0"/>
              </a:spcBef>
              <a:spcAft>
                <a:spcPts val="0"/>
              </a:spcAft>
            </a:pPr>
            <a:r>
              <a:rPr sz="1200" b="0" i="0">
                <a:solidFill>
                  <a:srgbClr val="64748B"/>
                </a:solidFill>
                <a:latin typeface="Segoe UI"/>
              </a:rPr>
              <a:t>Answer questions spanning a PDF manual, a spreadsheet and a photo in the same turn.</a:t>
            </a:r>
          </a:p>
        </p:txBody>
      </p:sp>
      <p:sp>
        <p:nvSpPr>
          <p:cNvPr id="11" name="Rectangle 10"/>
          <p:cNvSpPr/>
          <p:nvPr/>
        </p:nvSpPr>
        <p:spPr>
          <a:xfrm>
            <a:off x="4408322" y="2352890"/>
            <a:ext cx="3375050" cy="16642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408322" y="2352890"/>
            <a:ext cx="45720" cy="166420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682642" y="2572346"/>
            <a:ext cx="2872130" cy="1316736"/>
          </a:xfrm>
          <a:prstGeom prst="rect">
            <a:avLst/>
          </a:prstGeom>
          <a:noFill/>
        </p:spPr>
        <p:txBody>
          <a:bodyPr wrap="square" lIns="0" rIns="0" tIns="0" bIns="0" anchor="t">
            <a:spAutoFit/>
          </a:bodyPr>
          <a:lstStyle/>
          <a:p>
            <a:pPr algn="l">
              <a:lnSpc>
                <a:spcPct val="115000"/>
              </a:lnSpc>
              <a:spcBef>
                <a:spcPts val="0"/>
              </a:spcBef>
              <a:spcAft>
                <a:spcPts val="500"/>
              </a:spcAft>
            </a:pPr>
            <a:r>
              <a:rPr sz="1450" b="1" i="0">
                <a:solidFill>
                  <a:srgbClr val="0F172A"/>
                </a:solidFill>
                <a:latin typeface="Segoe UI"/>
              </a:rPr>
              <a:t>Spreadsheet analysis and reconciliation</a:t>
            </a:r>
          </a:p>
          <a:p>
            <a:pPr algn="l">
              <a:lnSpc>
                <a:spcPct val="126000"/>
              </a:lnSpc>
              <a:spcBef>
                <a:spcPts val="0"/>
              </a:spcBef>
              <a:spcAft>
                <a:spcPts val="0"/>
              </a:spcAft>
            </a:pPr>
            <a:r>
              <a:rPr sz="1200" b="0" i="0">
                <a:solidFill>
                  <a:srgbClr val="64748B"/>
                </a:solidFill>
                <a:latin typeface="Segoe UI"/>
              </a:rPr>
              <a:t>Compare quantities and prices across workbooks with numbers the agent can actually compute on.</a:t>
            </a:r>
          </a:p>
        </p:txBody>
      </p:sp>
      <p:sp>
        <p:nvSpPr>
          <p:cNvPr id="14" name="Rectangle 13"/>
          <p:cNvSpPr/>
          <p:nvPr/>
        </p:nvSpPr>
        <p:spPr>
          <a:xfrm>
            <a:off x="8039404" y="2352890"/>
            <a:ext cx="3375050" cy="16642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039404" y="2352890"/>
            <a:ext cx="45720" cy="166420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313724" y="2572346"/>
            <a:ext cx="2872130" cy="1316736"/>
          </a:xfrm>
          <a:prstGeom prst="rect">
            <a:avLst/>
          </a:prstGeom>
          <a:noFill/>
        </p:spPr>
        <p:txBody>
          <a:bodyPr wrap="square" lIns="0" rIns="0" tIns="0" bIns="0" anchor="t">
            <a:spAutoFit/>
          </a:bodyPr>
          <a:lstStyle/>
          <a:p>
            <a:pPr algn="l">
              <a:lnSpc>
                <a:spcPct val="115000"/>
              </a:lnSpc>
              <a:spcBef>
                <a:spcPts val="0"/>
              </a:spcBef>
              <a:spcAft>
                <a:spcPts val="500"/>
              </a:spcAft>
            </a:pPr>
            <a:r>
              <a:rPr sz="1450" b="1" i="0">
                <a:solidFill>
                  <a:srgbClr val="0F172A"/>
                </a:solidFill>
                <a:latin typeface="Segoe UI"/>
              </a:rPr>
              <a:t>Structured data extraction</a:t>
            </a:r>
          </a:p>
          <a:p>
            <a:pPr algn="l">
              <a:lnSpc>
                <a:spcPct val="126000"/>
              </a:lnSpc>
              <a:spcBef>
                <a:spcPts val="0"/>
              </a:spcBef>
              <a:spcAft>
                <a:spcPts val="0"/>
              </a:spcAft>
            </a:pPr>
            <a:r>
              <a:rPr sz="1200" b="0" i="0">
                <a:solidFill>
                  <a:srgbClr val="64748B"/>
                </a:solidFill>
                <a:latin typeface="Segoe UI"/>
              </a:rPr>
              <a:t>Pull named fields out of unstructured documents into records, with the agent doing the mapping.</a:t>
            </a:r>
          </a:p>
        </p:txBody>
      </p:sp>
      <p:sp>
        <p:nvSpPr>
          <p:cNvPr id="17" name="Rectangle 16"/>
          <p:cNvSpPr/>
          <p:nvPr/>
        </p:nvSpPr>
        <p:spPr>
          <a:xfrm>
            <a:off x="777240" y="4273130"/>
            <a:ext cx="3375050" cy="16642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777240" y="4273130"/>
            <a:ext cx="45720" cy="166420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51560" y="4492586"/>
            <a:ext cx="2872130" cy="1316736"/>
          </a:xfrm>
          <a:prstGeom prst="rect">
            <a:avLst/>
          </a:prstGeom>
          <a:noFill/>
        </p:spPr>
        <p:txBody>
          <a:bodyPr wrap="square" lIns="0" rIns="0" tIns="0" bIns="0" anchor="t">
            <a:spAutoFit/>
          </a:bodyPr>
          <a:lstStyle/>
          <a:p>
            <a:pPr algn="l">
              <a:lnSpc>
                <a:spcPct val="115000"/>
              </a:lnSpc>
              <a:spcBef>
                <a:spcPts val="0"/>
              </a:spcBef>
              <a:spcAft>
                <a:spcPts val="500"/>
              </a:spcAft>
            </a:pPr>
            <a:r>
              <a:rPr sz="1450" b="1" i="0">
                <a:solidFill>
                  <a:srgbClr val="0F172A"/>
                </a:solidFill>
                <a:latin typeface="Segoe UI"/>
              </a:rPr>
              <a:t>Technical document summarisation</a:t>
            </a:r>
          </a:p>
          <a:p>
            <a:pPr algn="l">
              <a:lnSpc>
                <a:spcPct val="126000"/>
              </a:lnSpc>
              <a:spcBef>
                <a:spcPts val="0"/>
              </a:spcBef>
              <a:spcAft>
                <a:spcPts val="0"/>
              </a:spcAft>
            </a:pPr>
            <a:r>
              <a:rPr sz="1200" b="0" i="0">
                <a:solidFill>
                  <a:srgbClr val="64748B"/>
                </a:solidFill>
                <a:latin typeface="Segoe UI"/>
              </a:rPr>
              <a:t>Condense datasheets and specifications while keeping tables intact as tables.</a:t>
            </a:r>
          </a:p>
        </p:txBody>
      </p:sp>
      <p:sp>
        <p:nvSpPr>
          <p:cNvPr id="20" name="Rectangle 19"/>
          <p:cNvSpPr/>
          <p:nvPr/>
        </p:nvSpPr>
        <p:spPr>
          <a:xfrm>
            <a:off x="4408322" y="4273130"/>
            <a:ext cx="3375050" cy="16642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408322" y="4273130"/>
            <a:ext cx="45720" cy="16642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682642" y="4492586"/>
            <a:ext cx="2872130" cy="1316736"/>
          </a:xfrm>
          <a:prstGeom prst="rect">
            <a:avLst/>
          </a:prstGeom>
          <a:noFill/>
        </p:spPr>
        <p:txBody>
          <a:bodyPr wrap="square" lIns="0" rIns="0" tIns="0" bIns="0" anchor="t">
            <a:spAutoFit/>
          </a:bodyPr>
          <a:lstStyle/>
          <a:p>
            <a:pPr algn="l">
              <a:lnSpc>
                <a:spcPct val="115000"/>
              </a:lnSpc>
              <a:spcBef>
                <a:spcPts val="0"/>
              </a:spcBef>
              <a:spcAft>
                <a:spcPts val="500"/>
              </a:spcAft>
            </a:pPr>
            <a:r>
              <a:rPr sz="1450" b="1" i="0">
                <a:solidFill>
                  <a:srgbClr val="0F172A"/>
                </a:solidFill>
                <a:latin typeface="Segoe UI"/>
              </a:rPr>
              <a:t>Photo-based capture</a:t>
            </a:r>
          </a:p>
          <a:p>
            <a:pPr algn="l">
              <a:lnSpc>
                <a:spcPct val="126000"/>
              </a:lnSpc>
              <a:spcBef>
                <a:spcPts val="0"/>
              </a:spcBef>
              <a:spcAft>
                <a:spcPts val="0"/>
              </a:spcAft>
            </a:pPr>
            <a:r>
              <a:rPr sz="1200" b="0" i="0">
                <a:solidFill>
                  <a:srgbClr val="64748B"/>
                </a:solidFill>
                <a:latin typeface="Segoe UI"/>
              </a:rPr>
              <a:t>Read labels, markings and printed codes off product or site photographs.</a:t>
            </a:r>
          </a:p>
        </p:txBody>
      </p:sp>
      <p:sp>
        <p:nvSpPr>
          <p:cNvPr id="23" name="Rectangle 22"/>
          <p:cNvSpPr/>
          <p:nvPr/>
        </p:nvSpPr>
        <p:spPr>
          <a:xfrm>
            <a:off x="8039404" y="4273130"/>
            <a:ext cx="3375050" cy="16642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039404" y="4273130"/>
            <a:ext cx="45720" cy="166420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13724" y="4492586"/>
            <a:ext cx="2872130" cy="1316736"/>
          </a:xfrm>
          <a:prstGeom prst="rect">
            <a:avLst/>
          </a:prstGeom>
          <a:noFill/>
        </p:spPr>
        <p:txBody>
          <a:bodyPr wrap="square" lIns="0" rIns="0" tIns="0" bIns="0" anchor="t">
            <a:spAutoFit/>
          </a:bodyPr>
          <a:lstStyle/>
          <a:p>
            <a:pPr algn="l">
              <a:lnSpc>
                <a:spcPct val="115000"/>
              </a:lnSpc>
              <a:spcBef>
                <a:spcPts val="0"/>
              </a:spcBef>
              <a:spcAft>
                <a:spcPts val="500"/>
              </a:spcAft>
            </a:pPr>
            <a:r>
              <a:rPr sz="1450" b="1" i="0">
                <a:solidFill>
                  <a:srgbClr val="0F172A"/>
                </a:solidFill>
                <a:latin typeface="Segoe UI"/>
              </a:rPr>
              <a:t>Cross-source verification</a:t>
            </a:r>
          </a:p>
          <a:p>
            <a:pPr algn="l">
              <a:lnSpc>
                <a:spcPct val="126000"/>
              </a:lnSpc>
              <a:spcBef>
                <a:spcPts val="0"/>
              </a:spcBef>
              <a:spcAft>
                <a:spcPts val="0"/>
              </a:spcAft>
            </a:pPr>
            <a:r>
              <a:rPr sz="1200" b="0" i="0">
                <a:solidFill>
                  <a:srgbClr val="64748B"/>
                </a:solidFill>
                <a:latin typeface="Segoe UI"/>
              </a:rPr>
              <a:t>Check that a figure in a document matches the figure in the accompanying workbook.</a:t>
            </a:r>
          </a:p>
        </p:txBody>
      </p:sp>
      <p:sp>
        <p:nvSpPr>
          <p:cNvPr id="26" name="TextBox 25"/>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D4ED8"/>
                </a:solidFill>
                <a:latin typeface="Segoe UI"/>
              </a:rPr>
              <a:t>OUTPUT DESIGN</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Built to be read by a model</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Two output shapes, each chosen for what a language model does well.</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352890"/>
            <a:ext cx="5166360" cy="19751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77240" y="2352890"/>
            <a:ext cx="5166360"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69848" y="2608922"/>
            <a:ext cx="4599432" cy="1563624"/>
          </a:xfrm>
          <a:prstGeom prst="rect">
            <a:avLst/>
          </a:prstGeom>
          <a:noFill/>
        </p:spPr>
        <p:txBody>
          <a:bodyPr wrap="square" lIns="0" rIns="0" tIns="0" bIns="0" anchor="t">
            <a:spAutoFit/>
          </a:bodyPr>
          <a:lstStyle/>
          <a:p>
            <a:pPr algn="l">
              <a:lnSpc>
                <a:spcPct val="110000"/>
              </a:lnSpc>
              <a:spcBef>
                <a:spcPts val="0"/>
              </a:spcBef>
              <a:spcAft>
                <a:spcPts val="1000"/>
              </a:spcAft>
            </a:pPr>
            <a:r>
              <a:rPr sz="1500" b="1" i="0">
                <a:solidFill>
                  <a:srgbClr val="0F172A"/>
                </a:solidFill>
                <a:latin typeface="Segoe UI"/>
              </a:rPr>
              <a:t>Markdown for prose and layout</a:t>
            </a:r>
          </a:p>
          <a:p>
            <a:pPr algn="l">
              <a:lnSpc>
                <a:spcPct val="130000"/>
              </a:lnSpc>
              <a:spcBef>
                <a:spcPts val="0"/>
              </a:spcBef>
              <a:spcAft>
                <a:spcPts val="0"/>
              </a:spcAft>
            </a:pPr>
            <a:r>
              <a:rPr sz="1250" b="0" i="0">
                <a:solidFill>
                  <a:srgbClr val="64748B"/>
                </a:solidFill>
                <a:latin typeface="Segoe UI"/>
              </a:rPr>
              <a:t>Not a proprietary tree of bounding boxes. Markdown is a format models are saturated with in training — headings stay headings, lists stay lists, tables stay tables, and no bespoke parser is needed on the agent side.</a:t>
            </a:r>
          </a:p>
        </p:txBody>
      </p:sp>
      <p:sp>
        <p:nvSpPr>
          <p:cNvPr id="11" name="Rectangle 10"/>
          <p:cNvSpPr/>
          <p:nvPr/>
        </p:nvSpPr>
        <p:spPr>
          <a:xfrm>
            <a:off x="6263640" y="2352890"/>
            <a:ext cx="5148072" cy="19751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63640" y="2352890"/>
            <a:ext cx="5148072"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56248" y="2608922"/>
            <a:ext cx="4581144" cy="1563624"/>
          </a:xfrm>
          <a:prstGeom prst="rect">
            <a:avLst/>
          </a:prstGeom>
          <a:noFill/>
        </p:spPr>
        <p:txBody>
          <a:bodyPr wrap="square" lIns="0" rIns="0" tIns="0" bIns="0" anchor="t">
            <a:spAutoFit/>
          </a:bodyPr>
          <a:lstStyle/>
          <a:p>
            <a:pPr algn="l">
              <a:lnSpc>
                <a:spcPct val="110000"/>
              </a:lnSpc>
              <a:spcBef>
                <a:spcPts val="0"/>
              </a:spcBef>
              <a:spcAft>
                <a:spcPts val="1000"/>
              </a:spcAft>
            </a:pPr>
            <a:r>
              <a:rPr sz="1500" b="1" i="0">
                <a:solidFill>
                  <a:srgbClr val="0F172A"/>
                </a:solidFill>
                <a:latin typeface="Segoe UI"/>
              </a:rPr>
              <a:t>Typed values for numbers</a:t>
            </a:r>
          </a:p>
          <a:p>
            <a:pPr algn="l">
              <a:lnSpc>
                <a:spcPct val="130000"/>
              </a:lnSpc>
              <a:spcBef>
                <a:spcPts val="0"/>
              </a:spcBef>
              <a:spcAft>
                <a:spcPts val="0"/>
              </a:spcAft>
            </a:pPr>
            <a:r>
              <a:rPr sz="1250" b="0" i="0">
                <a:solidFill>
                  <a:srgbClr val="64748B"/>
                </a:solidFill>
                <a:latin typeface="Segoe UI"/>
              </a:rPr>
              <a:t>Spreadsheet cells come back as real JSON types — numbers as numbers, booleans as booleans, dates as ISO-8601 strings. The agent never has to reverse-engineer a display format to do arithmetic.</a:t>
            </a:r>
          </a:p>
        </p:txBody>
      </p:sp>
      <p:sp>
        <p:nvSpPr>
          <p:cNvPr id="14" name="Rectangle 13"/>
          <p:cNvSpPr/>
          <p:nvPr/>
        </p:nvSpPr>
        <p:spPr>
          <a:xfrm>
            <a:off x="777240" y="4602314"/>
            <a:ext cx="10637215" cy="148132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4821770"/>
            <a:ext cx="2926080" cy="1097280"/>
          </a:xfrm>
          <a:prstGeom prst="rect">
            <a:avLst/>
          </a:prstGeom>
          <a:noFill/>
        </p:spPr>
        <p:txBody>
          <a:bodyPr wrap="square" lIns="0" rIns="0" tIns="0" bIns="0" anchor="t">
            <a:spAutoFit/>
          </a:bodyPr>
          <a:lstStyle/>
          <a:p>
            <a:pPr algn="l">
              <a:lnSpc>
                <a:spcPct val="110000"/>
              </a:lnSpc>
              <a:spcBef>
                <a:spcPts val="0"/>
              </a:spcBef>
              <a:spcAft>
                <a:spcPts val="800"/>
              </a:spcAft>
            </a:pPr>
            <a:r>
              <a:rPr sz="1350" b="1" i="0">
                <a:solidFill>
                  <a:srgbClr val="0F172A"/>
                </a:solidFill>
                <a:latin typeface="Segoe UI"/>
              </a:rPr>
              <a:t>The difference this makes</a:t>
            </a:r>
          </a:p>
          <a:p>
            <a:pPr algn="l">
              <a:lnSpc>
                <a:spcPct val="125000"/>
              </a:lnSpc>
              <a:spcBef>
                <a:spcPts val="0"/>
              </a:spcBef>
              <a:spcAft>
                <a:spcPts val="0"/>
              </a:spcAft>
            </a:pPr>
            <a:r>
              <a:rPr sz="1200" b="0" i="0">
                <a:solidFill>
                  <a:srgbClr val="64748B"/>
                </a:solidFill>
                <a:latin typeface="Segoe UI"/>
              </a:rPr>
              <a:t>The same cell, reaching the agent two ways.</a:t>
            </a:r>
          </a:p>
        </p:txBody>
      </p:sp>
      <p:sp>
        <p:nvSpPr>
          <p:cNvPr id="16" name="Rectangle 15"/>
          <p:cNvSpPr/>
          <p:nvPr/>
        </p:nvSpPr>
        <p:spPr>
          <a:xfrm>
            <a:off x="4160520" y="4803482"/>
            <a:ext cx="342900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160520" y="4803482"/>
            <a:ext cx="45720" cy="10972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16552" y="4949786"/>
            <a:ext cx="2971800" cy="868680"/>
          </a:xfrm>
          <a:prstGeom prst="rect">
            <a:avLst/>
          </a:prstGeom>
          <a:noFill/>
        </p:spPr>
        <p:txBody>
          <a:bodyPr wrap="square" lIns="0" rIns="0" tIns="0" bIns="0" anchor="t">
            <a:spAutoFit/>
          </a:bodyPr>
          <a:lstStyle/>
          <a:p>
            <a:pPr algn="l">
              <a:lnSpc>
                <a:spcPct val="100000"/>
              </a:lnSpc>
              <a:spcBef>
                <a:spcPts val="0"/>
              </a:spcBef>
              <a:spcAft>
                <a:spcPts val="600"/>
              </a:spcAft>
            </a:pPr>
            <a:r>
              <a:rPr sz="950" b="1" i="0">
                <a:solidFill>
                  <a:srgbClr val="C2410C"/>
                </a:solidFill>
                <a:latin typeface="Segoe UI"/>
              </a:rPr>
              <a:t>SCRAPED FROM RENDERED TEXT</a:t>
            </a:r>
          </a:p>
          <a:p>
            <a:pPr algn="l">
              <a:lnSpc>
                <a:spcPct val="100000"/>
              </a:lnSpc>
              <a:spcBef>
                <a:spcPts val="0"/>
              </a:spcBef>
              <a:spcAft>
                <a:spcPts val="500"/>
              </a:spcAft>
            </a:pPr>
            <a:r>
              <a:rPr sz="1700" b="1" i="0">
                <a:solidFill>
                  <a:srgbClr val="0F172A"/>
                </a:solidFill>
                <a:latin typeface="Consolas"/>
              </a:rPr>
              <a:t>"1 234,50"</a:t>
            </a:r>
          </a:p>
          <a:p>
            <a:pPr algn="l">
              <a:lnSpc>
                <a:spcPct val="120000"/>
              </a:lnSpc>
              <a:spcBef>
                <a:spcPts val="0"/>
              </a:spcBef>
              <a:spcAft>
                <a:spcPts val="0"/>
              </a:spcAft>
            </a:pPr>
            <a:r>
              <a:rPr sz="1050" b="0" i="0">
                <a:solidFill>
                  <a:srgbClr val="64748B"/>
                </a:solidFill>
                <a:latin typeface="Segoe UI"/>
              </a:rPr>
              <a:t>Locale, separator and currency all guessed. Sums silently wrong.</a:t>
            </a:r>
          </a:p>
        </p:txBody>
      </p:sp>
      <p:sp>
        <p:nvSpPr>
          <p:cNvPr id="19" name="Rectangle 18"/>
          <p:cNvSpPr/>
          <p:nvPr/>
        </p:nvSpPr>
        <p:spPr>
          <a:xfrm>
            <a:off x="8275320" y="4803482"/>
            <a:ext cx="3136392"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275320" y="4803482"/>
            <a:ext cx="45720" cy="1097280"/>
          </a:xfrm>
          <a:prstGeom prst="rect">
            <a:avLst/>
          </a:prstGeom>
          <a:solidFill>
            <a:srgbClr val="157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531352" y="4949786"/>
            <a:ext cx="2679192" cy="868680"/>
          </a:xfrm>
          <a:prstGeom prst="rect">
            <a:avLst/>
          </a:prstGeom>
          <a:noFill/>
        </p:spPr>
        <p:txBody>
          <a:bodyPr wrap="square" lIns="0" rIns="0" tIns="0" bIns="0" anchor="t">
            <a:spAutoFit/>
          </a:bodyPr>
          <a:lstStyle/>
          <a:p>
            <a:pPr algn="l">
              <a:lnSpc>
                <a:spcPct val="100000"/>
              </a:lnSpc>
              <a:spcBef>
                <a:spcPts val="0"/>
              </a:spcBef>
              <a:spcAft>
                <a:spcPts val="600"/>
              </a:spcAft>
            </a:pPr>
            <a:r>
              <a:rPr sz="950" b="1" i="0">
                <a:solidFill>
                  <a:srgbClr val="157F3C"/>
                </a:solidFill>
                <a:latin typeface="Segoe UI"/>
              </a:rPr>
              <a:t>READ FROM THE STORED VALUE</a:t>
            </a:r>
          </a:p>
          <a:p>
            <a:pPr algn="l">
              <a:lnSpc>
                <a:spcPct val="100000"/>
              </a:lnSpc>
              <a:spcBef>
                <a:spcPts val="0"/>
              </a:spcBef>
              <a:spcAft>
                <a:spcPts val="500"/>
              </a:spcAft>
            </a:pPr>
            <a:r>
              <a:rPr sz="1700" b="1" i="0">
                <a:solidFill>
                  <a:srgbClr val="0F172A"/>
                </a:solidFill>
                <a:latin typeface="Consolas"/>
              </a:rPr>
              <a:t>1234.50</a:t>
            </a:r>
          </a:p>
          <a:p>
            <a:pPr algn="l">
              <a:lnSpc>
                <a:spcPct val="120000"/>
              </a:lnSpc>
              <a:spcBef>
                <a:spcPts val="0"/>
              </a:spcBef>
              <a:spcAft>
                <a:spcPts val="0"/>
              </a:spcAft>
            </a:pPr>
            <a:r>
              <a:rPr sz="1050" b="0" i="0">
                <a:solidFill>
                  <a:srgbClr val="64748B"/>
                </a:solidFill>
                <a:latin typeface="Segoe UI"/>
              </a:rPr>
              <a:t>The number the file actually holds. Arithmetic is safe.</a:t>
            </a:r>
          </a:p>
        </p:txBody>
      </p:sp>
      <p:sp>
        <p:nvSpPr>
          <p:cNvPr id="22" name="Isosceles Triangle 21"/>
          <p:cNvSpPr/>
          <p:nvPr/>
        </p:nvSpPr>
        <p:spPr>
          <a:xfrm rot="5400000">
            <a:off x="7790688" y="5260682"/>
            <a:ext cx="219456" cy="219456"/>
          </a:xfrm>
          <a:prstGeom prst="triangl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C2410C"/>
                </a:solidFill>
                <a:latin typeface="Segoe UI"/>
              </a:rPr>
              <a:t>FAILURE MODEL</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One bad file never fails the batch</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A well-formed request always returns 200. Success and failure are reported per file, inside the envelope.</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417965"/>
            <a:ext cx="68580" cy="685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2352890"/>
            <a:ext cx="4782312" cy="628456"/>
          </a:xfrm>
          <a:prstGeom prst="rect">
            <a:avLst/>
          </a:prstGeom>
          <a:noFill/>
        </p:spPr>
        <p:txBody>
          <a:bodyPr wrap="square" lIns="0" rIns="0" tIns="0" bIns="0" anchor="t">
            <a:spAutoFit/>
          </a:bodyPr>
          <a:lstStyle/>
          <a:p>
            <a:pPr algn="l">
              <a:lnSpc>
                <a:spcPct val="128000"/>
              </a:lnSpc>
              <a:spcAft>
                <a:spcPts val="0"/>
              </a:spcAft>
            </a:pPr>
            <a:r>
              <a:rPr sz="1400" b="1" i="0">
                <a:solidFill>
                  <a:srgbClr val="0F172A"/>
                </a:solidFill>
                <a:latin typeface="Segoe UI"/>
              </a:rPr>
              <a:t>Partial success is the norm. </a:t>
            </a:r>
            <a:r>
              <a:rPr sz="1400" b="0" i="0">
                <a:solidFill>
                  <a:srgbClr val="64748B"/>
                </a:solidFill>
                <a:latin typeface="Segoe UI"/>
              </a:rPr>
              <a:t>One corrupt file in twelve yields eleven results and one error entry.</a:t>
            </a:r>
          </a:p>
        </p:txBody>
      </p:sp>
      <p:sp>
        <p:nvSpPr>
          <p:cNvPr id="10" name="Rectangle 9"/>
          <p:cNvSpPr/>
          <p:nvPr/>
        </p:nvSpPr>
        <p:spPr>
          <a:xfrm>
            <a:off x="777240" y="3227270"/>
            <a:ext cx="68580" cy="685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9848" y="3162195"/>
            <a:ext cx="4782312" cy="628456"/>
          </a:xfrm>
          <a:prstGeom prst="rect">
            <a:avLst/>
          </a:prstGeom>
          <a:noFill/>
        </p:spPr>
        <p:txBody>
          <a:bodyPr wrap="square" lIns="0" rIns="0" tIns="0" bIns="0" anchor="t">
            <a:spAutoFit/>
          </a:bodyPr>
          <a:lstStyle/>
          <a:p>
            <a:pPr algn="l">
              <a:lnSpc>
                <a:spcPct val="128000"/>
              </a:lnSpc>
              <a:spcAft>
                <a:spcPts val="0"/>
              </a:spcAft>
            </a:pPr>
            <a:r>
              <a:rPr sz="1400" b="1" i="0">
                <a:solidFill>
                  <a:srgbClr val="0F172A"/>
                </a:solidFill>
                <a:latin typeface="Segoe UI"/>
              </a:rPr>
              <a:t>Errors are machine-readable. </a:t>
            </a:r>
            <a:r>
              <a:rPr sz="1400" b="0" i="0">
                <a:solidFill>
                  <a:srgbClr val="64748B"/>
                </a:solidFill>
                <a:latin typeface="Segoe UI"/>
              </a:rPr>
              <a:t>The agent branches on a code, not on a message string.</a:t>
            </a:r>
          </a:p>
        </p:txBody>
      </p:sp>
      <p:sp>
        <p:nvSpPr>
          <p:cNvPr id="12" name="Rectangle 11"/>
          <p:cNvSpPr/>
          <p:nvPr/>
        </p:nvSpPr>
        <p:spPr>
          <a:xfrm>
            <a:off x="777240" y="4036575"/>
            <a:ext cx="68580" cy="685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69848" y="3971500"/>
            <a:ext cx="4782312" cy="628456"/>
          </a:xfrm>
          <a:prstGeom prst="rect">
            <a:avLst/>
          </a:prstGeom>
          <a:noFill/>
        </p:spPr>
        <p:txBody>
          <a:bodyPr wrap="square" lIns="0" rIns="0" tIns="0" bIns="0" anchor="t">
            <a:spAutoFit/>
          </a:bodyPr>
          <a:lstStyle/>
          <a:p>
            <a:pPr algn="l">
              <a:lnSpc>
                <a:spcPct val="128000"/>
              </a:lnSpc>
              <a:spcAft>
                <a:spcPts val="0"/>
              </a:spcAft>
            </a:pPr>
            <a:r>
              <a:rPr sz="1400" b="1" i="0">
                <a:solidFill>
                  <a:srgbClr val="0F172A"/>
                </a:solidFill>
                <a:latin typeface="Segoe UI"/>
              </a:rPr>
              <a:t>Warnings are non-fatal. </a:t>
            </a:r>
            <a:r>
              <a:rPr sz="1400" b="0" i="0">
                <a:solidFill>
                  <a:srgbClr val="64748B"/>
                </a:solidFill>
                <a:latin typeface="Segoe UI"/>
              </a:rPr>
              <a:t>Whatever degraded is reported next to the result still produced.</a:t>
            </a:r>
          </a:p>
        </p:txBody>
      </p:sp>
      <p:sp>
        <p:nvSpPr>
          <p:cNvPr id="14" name="Rectangle 13"/>
          <p:cNvSpPr/>
          <p:nvPr/>
        </p:nvSpPr>
        <p:spPr>
          <a:xfrm>
            <a:off x="777240" y="4845880"/>
            <a:ext cx="68580" cy="685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69848" y="4780805"/>
            <a:ext cx="4782312" cy="628456"/>
          </a:xfrm>
          <a:prstGeom prst="rect">
            <a:avLst/>
          </a:prstGeom>
          <a:noFill/>
        </p:spPr>
        <p:txBody>
          <a:bodyPr wrap="square" lIns="0" rIns="0" tIns="0" bIns="0" anchor="t">
            <a:spAutoFit/>
          </a:bodyPr>
          <a:lstStyle/>
          <a:p>
            <a:pPr algn="l">
              <a:lnSpc>
                <a:spcPct val="128000"/>
              </a:lnSpc>
              <a:spcAft>
                <a:spcPts val="0"/>
              </a:spcAft>
            </a:pPr>
            <a:r>
              <a:rPr sz="1400" b="1" i="0">
                <a:solidFill>
                  <a:srgbClr val="0F172A"/>
                </a:solidFill>
                <a:latin typeface="Segoe UI"/>
              </a:rPr>
              <a:t>Request-level 400 is reserved. </a:t>
            </a:r>
            <a:r>
              <a:rPr sz="1400" b="0" i="0">
                <a:solidFill>
                  <a:srgbClr val="64748B"/>
                </a:solidFill>
                <a:latin typeface="Segoe UI"/>
              </a:rPr>
              <a:t>Only for a malformed request — never for bad file content.</a:t>
            </a:r>
          </a:p>
        </p:txBody>
      </p:sp>
      <p:graphicFrame>
        <p:nvGraphicFramePr>
          <p:cNvPr id="16" name="Table 15"/>
          <p:cNvGraphicFramePr>
            <a:graphicFrameLocks noGrp="1"/>
          </p:cNvGraphicFramePr>
          <p:nvPr/>
        </p:nvGraphicFramePr>
        <p:xfrm>
          <a:off x="6263640" y="2352890"/>
          <a:ext cx="5148072" cy="2766060"/>
        </p:xfrm>
        <a:graphic>
          <a:graphicData uri="http://schemas.openxmlformats.org/drawingml/2006/table">
            <a:tbl>
              <a:tblPr>
                <a:tableStyleId>{2D5ABB26-0587-4C30-8999-92F81FD0307C}</a:tableStyleId>
              </a:tblPr>
              <a:tblGrid>
                <a:gridCol w="2148840"/>
                <a:gridCol w="2999232"/>
              </a:tblGrid>
              <a:tr h="365760">
                <a:tc>
                  <a:txBody>
                    <a:bodyPr wrap="square"/>
                    <a:lstStyle/>
                    <a:p>
                      <a:pPr>
                        <a:lnSpc>
                          <a:spcPct val="112000"/>
                        </a:lnSpc>
                      </a:pPr>
                      <a:r>
                        <a:rPr sz="1150" b="1">
                          <a:solidFill>
                            <a:srgbClr val="FFFFFF"/>
                          </a:solidFill>
                          <a:latin typeface="Segoe UI"/>
                        </a:rPr>
                        <a:t>Code</a:t>
                      </a:r>
                    </a:p>
                  </a:txBody>
                  <a:tcPr marL="146304" marR="91440" marT="36576" marB="36576" anchor="ctr">
                    <a:solidFill>
                      <a:srgbClr val="C2410C"/>
                    </a:solidFill>
                  </a:tcPr>
                </a:tc>
                <a:tc>
                  <a:txBody>
                    <a:bodyPr wrap="square"/>
                    <a:lstStyle/>
                    <a:p>
                      <a:pPr>
                        <a:lnSpc>
                          <a:spcPct val="112000"/>
                        </a:lnSpc>
                      </a:pPr>
                      <a:r>
                        <a:rPr sz="1150" b="1">
                          <a:solidFill>
                            <a:srgbClr val="FFFFFF"/>
                          </a:solidFill>
                          <a:latin typeface="Segoe UI"/>
                        </a:rPr>
                        <a:t>When it is returned</a:t>
                      </a:r>
                    </a:p>
                  </a:txBody>
                  <a:tcPr marL="146304" marR="91440" marT="36576" marB="36576" anchor="ctr">
                    <a:solidFill>
                      <a:srgbClr val="C2410C"/>
                    </a:solidFill>
                  </a:tcPr>
                </a:tc>
              </a:tr>
              <a:tr h="342900">
                <a:tc>
                  <a:txBody>
                    <a:bodyPr wrap="square"/>
                    <a:lstStyle/>
                    <a:p>
                      <a:pPr>
                        <a:lnSpc>
                          <a:spcPct val="112000"/>
                        </a:lnSpc>
                      </a:pPr>
                      <a:r>
                        <a:rPr sz="1150" b="0">
                          <a:solidFill>
                            <a:srgbClr val="0F172A"/>
                          </a:solidFill>
                          <a:latin typeface="Consolas"/>
                        </a:rPr>
                        <a:t>unsupported_type</a:t>
                      </a:r>
                    </a:p>
                  </a:txBody>
                  <a:tcPr marL="146304" marR="91440" marT="36576" marB="36576" anchor="ctr">
                    <a:solidFill>
                      <a:srgbClr val="FFFFFF"/>
                    </a:solidFill>
                  </a:tcPr>
                </a:tc>
                <a:tc>
                  <a:txBody>
                    <a:bodyPr wrap="square"/>
                    <a:lstStyle/>
                    <a:p>
                      <a:pPr>
                        <a:lnSpc>
                          <a:spcPct val="112000"/>
                        </a:lnSpc>
                      </a:pPr>
                      <a:r>
                        <a:rPr sz="1150" b="0">
                          <a:solidFill>
                            <a:srgbClr val="0F172A"/>
                          </a:solidFill>
                          <a:latin typeface="Segoe UI"/>
                        </a:rPr>
                        <a:t>Bytes match no supported format</a:t>
                      </a:r>
                    </a:p>
                  </a:txBody>
                  <a:tcPr marL="146304" marR="91440" marT="36576" marB="36576" anchor="ctr">
                    <a:solidFill>
                      <a:srgbClr val="FFFFFF"/>
                    </a:solidFill>
                  </a:tcPr>
                </a:tc>
              </a:tr>
              <a:tr h="342900">
                <a:tc>
                  <a:txBody>
                    <a:bodyPr wrap="square"/>
                    <a:lstStyle/>
                    <a:p>
                      <a:pPr>
                        <a:lnSpc>
                          <a:spcPct val="112000"/>
                        </a:lnSpc>
                      </a:pPr>
                      <a:r>
                        <a:rPr sz="1150" b="0">
                          <a:solidFill>
                            <a:srgbClr val="0F172A"/>
                          </a:solidFill>
                          <a:latin typeface="Consolas"/>
                        </a:rPr>
                        <a:t>too_large</a:t>
                      </a:r>
                    </a:p>
                  </a:txBody>
                  <a:tcPr marL="146304" marR="91440" marT="36576" marB="36576" anchor="ctr">
                    <a:solidFill>
                      <a:srgbClr val="F1F5F9"/>
                    </a:solidFill>
                  </a:tcPr>
                </a:tc>
                <a:tc>
                  <a:txBody>
                    <a:bodyPr wrap="square"/>
                    <a:lstStyle/>
                    <a:p>
                      <a:pPr>
                        <a:lnSpc>
                          <a:spcPct val="112000"/>
                        </a:lnSpc>
                      </a:pPr>
                      <a:r>
                        <a:rPr sz="1150" b="0">
                          <a:solidFill>
                            <a:srgbClr val="0F172A"/>
                          </a:solidFill>
                          <a:latin typeface="Segoe UI"/>
                        </a:rPr>
                        <a:t>File exceeds the per-file size cap</a:t>
                      </a:r>
                    </a:p>
                  </a:txBody>
                  <a:tcPr marL="146304" marR="91440" marT="36576" marB="36576" anchor="ctr">
                    <a:solidFill>
                      <a:srgbClr val="F1F5F9"/>
                    </a:solidFill>
                  </a:tcPr>
                </a:tc>
              </a:tr>
              <a:tr h="342900">
                <a:tc>
                  <a:txBody>
                    <a:bodyPr wrap="square"/>
                    <a:lstStyle/>
                    <a:p>
                      <a:pPr>
                        <a:lnSpc>
                          <a:spcPct val="112000"/>
                        </a:lnSpc>
                      </a:pPr>
                      <a:r>
                        <a:rPr sz="1150" b="0">
                          <a:solidFill>
                            <a:srgbClr val="0F172A"/>
                          </a:solidFill>
                          <a:latin typeface="Consolas"/>
                        </a:rPr>
                        <a:t>empty_file</a:t>
                      </a:r>
                    </a:p>
                  </a:txBody>
                  <a:tcPr marL="146304" marR="91440" marT="36576" marB="36576" anchor="ctr">
                    <a:solidFill>
                      <a:srgbClr val="FFFFFF"/>
                    </a:solidFill>
                  </a:tcPr>
                </a:tc>
                <a:tc>
                  <a:txBody>
                    <a:bodyPr wrap="square"/>
                    <a:lstStyle/>
                    <a:p>
                      <a:pPr>
                        <a:lnSpc>
                          <a:spcPct val="112000"/>
                        </a:lnSpc>
                      </a:pPr>
                      <a:r>
                        <a:rPr sz="1150" b="0">
                          <a:solidFill>
                            <a:srgbClr val="0F172A"/>
                          </a:solidFill>
                          <a:latin typeface="Segoe UI"/>
                        </a:rPr>
                        <a:t>Zero-byte part</a:t>
                      </a:r>
                    </a:p>
                  </a:txBody>
                  <a:tcPr marL="146304" marR="91440" marT="36576" marB="36576" anchor="ctr">
                    <a:solidFill>
                      <a:srgbClr val="FFFFFF"/>
                    </a:solidFill>
                  </a:tcPr>
                </a:tc>
              </a:tr>
              <a:tr h="342900">
                <a:tc>
                  <a:txBody>
                    <a:bodyPr wrap="square"/>
                    <a:lstStyle/>
                    <a:p>
                      <a:pPr>
                        <a:lnSpc>
                          <a:spcPct val="112000"/>
                        </a:lnSpc>
                      </a:pPr>
                      <a:r>
                        <a:rPr sz="1150" b="1">
                          <a:solidFill>
                            <a:srgbClr val="0F172A"/>
                          </a:solidFill>
                          <a:latin typeface="Segoe UI"/>
                        </a:rPr>
                        <a:t>corrupt</a:t>
                      </a:r>
                    </a:p>
                  </a:txBody>
                  <a:tcPr marL="146304" marR="91440" marT="36576" marB="36576" anchor="ctr">
                    <a:solidFill>
                      <a:srgbClr val="F1F5F9"/>
                    </a:solidFill>
                  </a:tcPr>
                </a:tc>
                <a:tc>
                  <a:txBody>
                    <a:bodyPr wrap="square"/>
                    <a:lstStyle/>
                    <a:p>
                      <a:pPr>
                        <a:lnSpc>
                          <a:spcPct val="112000"/>
                        </a:lnSpc>
                      </a:pPr>
                      <a:r>
                        <a:rPr sz="1150" b="0">
                          <a:solidFill>
                            <a:srgbClr val="0F172A"/>
                          </a:solidFill>
                          <a:latin typeface="Segoe UI"/>
                        </a:rPr>
                        <a:t>Recognised format, unreadable content</a:t>
                      </a:r>
                    </a:p>
                  </a:txBody>
                  <a:tcPr marL="146304" marR="91440" marT="36576" marB="36576" anchor="ctr">
                    <a:solidFill>
                      <a:srgbClr val="F1F5F9"/>
                    </a:solidFill>
                  </a:tcPr>
                </a:tc>
              </a:tr>
              <a:tr h="342900">
                <a:tc>
                  <a:txBody>
                    <a:bodyPr wrap="square"/>
                    <a:lstStyle/>
                    <a:p>
                      <a:pPr>
                        <a:lnSpc>
                          <a:spcPct val="112000"/>
                        </a:lnSpc>
                      </a:pPr>
                      <a:r>
                        <a:rPr sz="1150" b="1">
                          <a:solidFill>
                            <a:srgbClr val="0F172A"/>
                          </a:solidFill>
                          <a:latin typeface="Segoe UI"/>
                        </a:rPr>
                        <a:t>timeout</a:t>
                      </a:r>
                    </a:p>
                  </a:txBody>
                  <a:tcPr marL="146304" marR="91440" marT="36576" marB="36576" anchor="ctr">
                    <a:solidFill>
                      <a:srgbClr val="FFFFFF"/>
                    </a:solidFill>
                  </a:tcPr>
                </a:tc>
                <a:tc>
                  <a:txBody>
                    <a:bodyPr wrap="square"/>
                    <a:lstStyle/>
                    <a:p>
                      <a:pPr>
                        <a:lnSpc>
                          <a:spcPct val="112000"/>
                        </a:lnSpc>
                      </a:pPr>
                      <a:r>
                        <a:rPr sz="1150" b="0">
                          <a:solidFill>
                            <a:srgbClr val="0F172A"/>
                          </a:solidFill>
                          <a:latin typeface="Segoe UI"/>
                        </a:rPr>
                        <a:t>Engine exceeded the per-file budget</a:t>
                      </a:r>
                    </a:p>
                  </a:txBody>
                  <a:tcPr marL="146304" marR="91440" marT="36576" marB="36576" anchor="ctr">
                    <a:solidFill>
                      <a:srgbClr val="FFFFFF"/>
                    </a:solidFill>
                  </a:tcPr>
                </a:tc>
              </a:tr>
              <a:tr h="342900">
                <a:tc>
                  <a:txBody>
                    <a:bodyPr wrap="square"/>
                    <a:lstStyle/>
                    <a:p>
                      <a:pPr>
                        <a:lnSpc>
                          <a:spcPct val="112000"/>
                        </a:lnSpc>
                      </a:pPr>
                      <a:r>
                        <a:rPr sz="1150" b="0">
                          <a:solidFill>
                            <a:srgbClr val="0F172A"/>
                          </a:solidFill>
                          <a:latin typeface="Consolas"/>
                        </a:rPr>
                        <a:t>engine_error</a:t>
                      </a:r>
                    </a:p>
                  </a:txBody>
                  <a:tcPr marL="146304" marR="91440" marT="36576" marB="36576" anchor="ctr">
                    <a:solidFill>
                      <a:srgbClr val="F1F5F9"/>
                    </a:solidFill>
                  </a:tcPr>
                </a:tc>
                <a:tc>
                  <a:txBody>
                    <a:bodyPr wrap="square"/>
                    <a:lstStyle/>
                    <a:p>
                      <a:pPr>
                        <a:lnSpc>
                          <a:spcPct val="112000"/>
                        </a:lnSpc>
                      </a:pPr>
                      <a:r>
                        <a:rPr sz="1150" b="0">
                          <a:solidFill>
                            <a:srgbClr val="0F172A"/>
                          </a:solidFill>
                          <a:latin typeface="Segoe UI"/>
                        </a:rPr>
                        <a:t>Unexpected engine failure</a:t>
                      </a:r>
                    </a:p>
                  </a:txBody>
                  <a:tcPr marL="146304" marR="91440" marT="36576" marB="36576" anchor="ctr">
                    <a:solidFill>
                      <a:srgbClr val="F1F5F9"/>
                    </a:solidFill>
                  </a:tcPr>
                </a:tc>
              </a:tr>
              <a:tr h="342900">
                <a:tc>
                  <a:txBody>
                    <a:bodyPr wrap="square"/>
                    <a:lstStyle/>
                    <a:p>
                      <a:pPr>
                        <a:lnSpc>
                          <a:spcPct val="112000"/>
                        </a:lnSpc>
                      </a:pPr>
                      <a:r>
                        <a:rPr sz="1150" b="0">
                          <a:solidFill>
                            <a:srgbClr val="0F172A"/>
                          </a:solidFill>
                          <a:latin typeface="Consolas"/>
                        </a:rPr>
                        <a:t>engine_unconfigured</a:t>
                      </a:r>
                    </a:p>
                  </a:txBody>
                  <a:tcPr marL="146304" marR="91440" marT="36576" marB="36576" anchor="ctr">
                    <a:solidFill>
                      <a:srgbClr val="FFFFFF"/>
                    </a:solidFill>
                  </a:tcPr>
                </a:tc>
                <a:tc>
                  <a:txBody>
                    <a:bodyPr wrap="square"/>
                    <a:lstStyle/>
                    <a:p>
                      <a:pPr>
                        <a:lnSpc>
                          <a:spcPct val="112000"/>
                        </a:lnSpc>
                      </a:pPr>
                      <a:r>
                        <a:rPr sz="1150" b="0">
                          <a:solidFill>
                            <a:srgbClr val="0F172A"/>
                          </a:solidFill>
                          <a:latin typeface="Segoe UI"/>
                        </a:rPr>
                        <a:t>That engine has no credentials</a:t>
                      </a:r>
                    </a:p>
                  </a:txBody>
                  <a:tcPr marL="146304" marR="91440" marT="36576" marB="36576" anchor="ctr">
                    <a:solidFill>
                      <a:srgbClr val="FFFFFF"/>
                    </a:solidFill>
                  </a:tcPr>
                </a:tc>
              </a:tr>
            </a:tbl>
          </a:graphicData>
        </a:graphic>
      </p:graphicFrame>
      <p:sp>
        <p:nvSpPr>
          <p:cNvPr id="17" name="TextBox 16"/>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157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57F3C"/>
                </a:solidFill>
                <a:latin typeface="Segoe UI"/>
              </a:rPr>
              <a:t>OPERATIONAL SAFETY</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Safe to put inside an agent loop</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Properties that matter when the files are user-supplied and the caller is autonomous.</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352890"/>
            <a:ext cx="5190591"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77240" y="2352890"/>
            <a:ext cx="45720" cy="1417320"/>
          </a:xfrm>
          <a:prstGeom prst="rect">
            <a:avLst/>
          </a:prstGeom>
          <a:solidFill>
            <a:srgbClr val="157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51560" y="2572346"/>
            <a:ext cx="4687671" cy="1069848"/>
          </a:xfrm>
          <a:prstGeom prst="rect">
            <a:avLst/>
          </a:prstGeom>
          <a:noFill/>
        </p:spPr>
        <p:txBody>
          <a:bodyPr wrap="square" lIns="0" rIns="0" tIns="0" bIns="0" anchor="t">
            <a:spAutoFit/>
          </a:bodyPr>
          <a:lstStyle/>
          <a:p>
            <a:pPr algn="l">
              <a:lnSpc>
                <a:spcPct val="115000"/>
              </a:lnSpc>
              <a:spcBef>
                <a:spcPts val="0"/>
              </a:spcBef>
              <a:spcAft>
                <a:spcPts val="500"/>
              </a:spcAft>
            </a:pPr>
            <a:r>
              <a:rPr sz="1450" b="1" i="0">
                <a:solidFill>
                  <a:srgbClr val="0F172A"/>
                </a:solidFill>
                <a:latin typeface="Segoe UI"/>
              </a:rPr>
              <a:t>Stateless</a:t>
            </a:r>
          </a:p>
          <a:p>
            <a:pPr algn="l">
              <a:lnSpc>
                <a:spcPct val="126000"/>
              </a:lnSpc>
              <a:spcBef>
                <a:spcPts val="0"/>
              </a:spcBef>
              <a:spcAft>
                <a:spcPts val="0"/>
              </a:spcAft>
            </a:pPr>
            <a:r>
              <a:rPr sz="1200" b="0" i="0">
                <a:solidFill>
                  <a:srgbClr val="64748B"/>
                </a:solidFill>
                <a:latin typeface="Segoe UI"/>
              </a:rPr>
              <a:t>Bytes in, results out. No document is persisted, to disk or to any store, and nothing outlives its request.</a:t>
            </a:r>
          </a:p>
        </p:txBody>
      </p:sp>
      <p:sp>
        <p:nvSpPr>
          <p:cNvPr id="11" name="Rectangle 10"/>
          <p:cNvSpPr/>
          <p:nvPr/>
        </p:nvSpPr>
        <p:spPr>
          <a:xfrm>
            <a:off x="6223863" y="2352890"/>
            <a:ext cx="5190591"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23863" y="2352890"/>
            <a:ext cx="45720" cy="1417320"/>
          </a:xfrm>
          <a:prstGeom prst="rect">
            <a:avLst/>
          </a:prstGeom>
          <a:solidFill>
            <a:srgbClr val="157F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98183" y="2572346"/>
            <a:ext cx="4687671" cy="1069848"/>
          </a:xfrm>
          <a:prstGeom prst="rect">
            <a:avLst/>
          </a:prstGeom>
          <a:noFill/>
        </p:spPr>
        <p:txBody>
          <a:bodyPr wrap="square" lIns="0" rIns="0" tIns="0" bIns="0" anchor="t">
            <a:spAutoFit/>
          </a:bodyPr>
          <a:lstStyle/>
          <a:p>
            <a:pPr algn="l">
              <a:lnSpc>
                <a:spcPct val="115000"/>
              </a:lnSpc>
              <a:spcBef>
                <a:spcPts val="0"/>
              </a:spcBef>
              <a:spcAft>
                <a:spcPts val="500"/>
              </a:spcAft>
            </a:pPr>
            <a:r>
              <a:rPr sz="1450" b="1" i="0">
                <a:solidFill>
                  <a:srgbClr val="0F172A"/>
                </a:solidFill>
                <a:latin typeface="Segoe UI"/>
              </a:rPr>
              <a:t>No content in logs</a:t>
            </a:r>
          </a:p>
          <a:p>
            <a:pPr algn="l">
              <a:lnSpc>
                <a:spcPct val="126000"/>
              </a:lnSpc>
              <a:spcBef>
                <a:spcPts val="0"/>
              </a:spcBef>
              <a:spcAft>
                <a:spcPts val="0"/>
              </a:spcAft>
            </a:pPr>
            <a:r>
              <a:rPr sz="1200" b="0" i="0">
                <a:solidFill>
                  <a:srgbClr val="64748B"/>
                </a:solidFill>
                <a:latin typeface="Segoe UI"/>
              </a:rPr>
              <a:t>Filenames, sizes, kinds, durations and outcomes are logged. Document content never is — enforced by a test that processes real files and asserts their text is absent.</a:t>
            </a:r>
          </a:p>
        </p:txBody>
      </p:sp>
      <p:sp>
        <p:nvSpPr>
          <p:cNvPr id="14" name="Rectangle 13"/>
          <p:cNvSpPr/>
          <p:nvPr/>
        </p:nvSpPr>
        <p:spPr>
          <a:xfrm>
            <a:off x="777240" y="4007954"/>
            <a:ext cx="5190591"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77240" y="4007954"/>
            <a:ext cx="45720" cy="1417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51560" y="4227410"/>
            <a:ext cx="4687671" cy="1069848"/>
          </a:xfrm>
          <a:prstGeom prst="rect">
            <a:avLst/>
          </a:prstGeom>
          <a:noFill/>
        </p:spPr>
        <p:txBody>
          <a:bodyPr wrap="square" lIns="0" rIns="0" tIns="0" bIns="0" anchor="t">
            <a:spAutoFit/>
          </a:bodyPr>
          <a:lstStyle/>
          <a:p>
            <a:pPr algn="l">
              <a:lnSpc>
                <a:spcPct val="115000"/>
              </a:lnSpc>
              <a:spcBef>
                <a:spcPts val="0"/>
              </a:spcBef>
              <a:spcAft>
                <a:spcPts val="500"/>
              </a:spcAft>
            </a:pPr>
            <a:r>
              <a:rPr sz="1450" b="1" i="0">
                <a:solidFill>
                  <a:srgbClr val="0F172A"/>
                </a:solidFill>
                <a:latin typeface="Segoe UI"/>
              </a:rPr>
              <a:t>Hard limits everywhere</a:t>
            </a:r>
          </a:p>
          <a:p>
            <a:pPr algn="l">
              <a:lnSpc>
                <a:spcPct val="126000"/>
              </a:lnSpc>
              <a:spcBef>
                <a:spcPts val="0"/>
              </a:spcBef>
              <a:spcAft>
                <a:spcPts val="0"/>
              </a:spcAft>
            </a:pPr>
            <a:r>
              <a:rPr sz="1200" b="0" i="0">
                <a:solidFill>
                  <a:srgbClr val="64748B"/>
                </a:solidFill>
                <a:latin typeface="Segoe UI"/>
              </a:rPr>
              <a:t>Per-file size cap, per-request file count, per-file timeout, bounded concurrency, and streaming caps enforced during read rather than after buffering.</a:t>
            </a:r>
          </a:p>
        </p:txBody>
      </p:sp>
      <p:sp>
        <p:nvSpPr>
          <p:cNvPr id="17" name="Rectangle 16"/>
          <p:cNvSpPr/>
          <p:nvPr/>
        </p:nvSpPr>
        <p:spPr>
          <a:xfrm>
            <a:off x="6223863" y="4007954"/>
            <a:ext cx="5190591"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3863" y="4007954"/>
            <a:ext cx="45720" cy="1417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98183" y="4227410"/>
            <a:ext cx="4687671" cy="1069848"/>
          </a:xfrm>
          <a:prstGeom prst="rect">
            <a:avLst/>
          </a:prstGeom>
          <a:noFill/>
        </p:spPr>
        <p:txBody>
          <a:bodyPr wrap="square" lIns="0" rIns="0" tIns="0" bIns="0" anchor="t">
            <a:spAutoFit/>
          </a:bodyPr>
          <a:lstStyle/>
          <a:p>
            <a:pPr algn="l">
              <a:lnSpc>
                <a:spcPct val="115000"/>
              </a:lnSpc>
              <a:spcBef>
                <a:spcPts val="0"/>
              </a:spcBef>
              <a:spcAft>
                <a:spcPts val="500"/>
              </a:spcAft>
            </a:pPr>
            <a:r>
              <a:rPr sz="1450" b="1" i="0">
                <a:solidFill>
                  <a:srgbClr val="0F172A"/>
                </a:solidFill>
                <a:latin typeface="Segoe UI"/>
              </a:rPr>
              <a:t>Not publicly reachable</a:t>
            </a:r>
          </a:p>
          <a:p>
            <a:pPr algn="l">
              <a:lnSpc>
                <a:spcPct val="126000"/>
              </a:lnSpc>
              <a:spcBef>
                <a:spcPts val="0"/>
              </a:spcBef>
              <a:spcAft>
                <a:spcPts val="0"/>
              </a:spcAft>
            </a:pPr>
            <a:r>
              <a:rPr sz="1200" b="0" i="0">
                <a:solidFill>
                  <a:srgbClr val="64748B"/>
                </a:solidFill>
                <a:latin typeface="Segoe UI"/>
              </a:rPr>
              <a:t>A cluster-internal service with no ingress. It is called by other workloads, never by a browser.</a:t>
            </a:r>
          </a:p>
        </p:txBody>
      </p:sp>
      <p:sp>
        <p:nvSpPr>
          <p:cNvPr id="20" name="TextBox 19"/>
          <p:cNvSpPr txBox="1"/>
          <p:nvPr/>
        </p:nvSpPr>
        <p:spPr>
          <a:xfrm>
            <a:off x="777240" y="5736170"/>
            <a:ext cx="10637215" cy="548640"/>
          </a:xfrm>
          <a:prstGeom prst="rect">
            <a:avLst/>
          </a:prstGeom>
          <a:noFill/>
        </p:spPr>
        <p:txBody>
          <a:bodyPr wrap="square" lIns="0" rIns="0" tIns="0" bIns="0" anchor="t">
            <a:spAutoFit/>
          </a:bodyPr>
          <a:lstStyle/>
          <a:p>
            <a:pPr algn="l">
              <a:lnSpc>
                <a:spcPct val="130000"/>
              </a:lnSpc>
              <a:spcAft>
                <a:spcPts val="0"/>
              </a:spcAft>
            </a:pPr>
            <a:r>
              <a:rPr sz="1400" b="1" i="0">
                <a:solidFill>
                  <a:srgbClr val="0F172A"/>
                </a:solidFill>
                <a:latin typeface="Segoe UI"/>
              </a:rPr>
              <a:t>Net effect: </a:t>
            </a:r>
            <a:r>
              <a:rPr sz="1400" b="0" i="0">
                <a:solidFill>
                  <a:srgbClr val="64748B"/>
                </a:solidFill>
                <a:latin typeface="Segoe UI"/>
              </a:rPr>
              <a:t>an agent can hand this service arbitrary user uploads in a loop without accumulating state, leaking content into logs, or letting one pathological file exhaust the pod.</a:t>
            </a:r>
          </a:p>
        </p:txBody>
      </p:sp>
      <p:sp>
        <p:nvSpPr>
          <p:cNvPr id="21" name="TextBox 20"/>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74320"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2926080" cy="1463040"/>
          </a:xfrm>
          <a:prstGeom prst="rect">
            <a:avLst/>
          </a:prstGeom>
          <a:noFill/>
        </p:spPr>
        <p:txBody>
          <a:bodyPr wrap="square" lIns="0" rIns="0" tIns="0" bIns="0" anchor="t">
            <a:spAutoFit/>
          </a:bodyPr>
          <a:lstStyle/>
          <a:p>
            <a:pPr algn="l">
              <a:lnSpc>
                <a:spcPct val="100000"/>
              </a:lnSpc>
              <a:spcBef>
                <a:spcPts val="0"/>
              </a:spcBef>
              <a:spcAft>
                <a:spcPts val="0"/>
              </a:spcAft>
            </a:pPr>
            <a:r>
              <a:rPr sz="7600" b="1" i="0">
                <a:solidFill>
                  <a:srgbClr val="172440"/>
                </a:solidFill>
                <a:latin typeface="Segoe UI"/>
              </a:rPr>
              <a:t>02</a:t>
            </a:r>
          </a:p>
        </p:txBody>
      </p:sp>
      <p:sp>
        <p:nvSpPr>
          <p:cNvPr id="5" name="TextBox 4"/>
          <p:cNvSpPr txBox="1"/>
          <p:nvPr/>
        </p:nvSpPr>
        <p:spPr>
          <a:xfrm>
            <a:off x="1371600" y="3246120"/>
            <a:ext cx="8686800" cy="914400"/>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egoe UI"/>
              </a:rPr>
              <a:t>How it is implemented</a:t>
            </a:r>
          </a:p>
        </p:txBody>
      </p:sp>
      <p:sp>
        <p:nvSpPr>
          <p:cNvPr id="6" name="Rectangle 5"/>
          <p:cNvSpPr/>
          <p:nvPr/>
        </p:nvSpPr>
        <p:spPr>
          <a:xfrm>
            <a:off x="1371600" y="4224528"/>
            <a:ext cx="1280160"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371600" y="4498848"/>
            <a:ext cx="8229600"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0">
                <a:solidFill>
                  <a:srgbClr val="94A3B8"/>
                </a:solidFill>
                <a:latin typeface="Segoe UI"/>
              </a:rPr>
              <a:t>Detection, routing, and a different strategy for each family of file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D4ED8"/>
                </a:solidFill>
                <a:latin typeface="Segoe UI"/>
              </a:rPr>
              <a:t>ARCHITECTURE</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A short pipeline and three engines</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Built as a .NET 10 minimal API. Every stage is small, independently testable, and unaware of the ones around it.</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352890"/>
            <a:ext cx="1937247"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77240" y="2352890"/>
            <a:ext cx="1937247"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2554058"/>
            <a:ext cx="1608063" cy="868680"/>
          </a:xfrm>
          <a:prstGeom prst="rect">
            <a:avLst/>
          </a:prstGeom>
          <a:noFill/>
        </p:spPr>
        <p:txBody>
          <a:bodyPr wrap="square" lIns="0" rIns="0" tIns="0" bIns="0" anchor="t">
            <a:spAutoFit/>
          </a:bodyPr>
          <a:lstStyle/>
          <a:p>
            <a:pPr algn="l">
              <a:lnSpc>
                <a:spcPct val="110000"/>
              </a:lnSpc>
              <a:spcBef>
                <a:spcPts val="0"/>
              </a:spcBef>
              <a:spcAft>
                <a:spcPts val="500"/>
              </a:spcAft>
            </a:pPr>
            <a:r>
              <a:rPr sz="1350" b="1" i="0">
                <a:solidFill>
                  <a:srgbClr val="0F172A"/>
                </a:solidFill>
                <a:latin typeface="Segoe UI"/>
              </a:rPr>
              <a:t>Intake</a:t>
            </a:r>
          </a:p>
          <a:p>
            <a:pPr algn="l">
              <a:lnSpc>
                <a:spcPct val="120000"/>
              </a:lnSpc>
              <a:spcBef>
                <a:spcPts val="0"/>
              </a:spcBef>
              <a:spcAft>
                <a:spcPts val="0"/>
              </a:spcAft>
            </a:pPr>
            <a:r>
              <a:rPr sz="1050" b="0" i="0">
                <a:solidFill>
                  <a:srgbClr val="64748B"/>
                </a:solidFill>
                <a:latin typeface="Segoe UI"/>
              </a:rPr>
              <a:t>Streamed multipart read</a:t>
            </a:r>
          </a:p>
        </p:txBody>
      </p:sp>
      <p:sp>
        <p:nvSpPr>
          <p:cNvPr id="11" name="Isosceles Triangle 10"/>
          <p:cNvSpPr/>
          <p:nvPr/>
        </p:nvSpPr>
        <p:spPr>
          <a:xfrm rot="5400000">
            <a:off x="2719059" y="2846666"/>
            <a:ext cx="201168" cy="201168"/>
          </a:xfrm>
          <a:prstGeom prst="triangl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2231" y="2352890"/>
            <a:ext cx="1937247"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952231" y="2352890"/>
            <a:ext cx="1937247"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116823" y="2554058"/>
            <a:ext cx="1608063" cy="868680"/>
          </a:xfrm>
          <a:prstGeom prst="rect">
            <a:avLst/>
          </a:prstGeom>
          <a:noFill/>
        </p:spPr>
        <p:txBody>
          <a:bodyPr wrap="square" lIns="0" rIns="0" tIns="0" bIns="0" anchor="t">
            <a:spAutoFit/>
          </a:bodyPr>
          <a:lstStyle/>
          <a:p>
            <a:pPr algn="l">
              <a:lnSpc>
                <a:spcPct val="110000"/>
              </a:lnSpc>
              <a:spcBef>
                <a:spcPts val="0"/>
              </a:spcBef>
              <a:spcAft>
                <a:spcPts val="500"/>
              </a:spcAft>
            </a:pPr>
            <a:r>
              <a:rPr sz="1350" b="1" i="0">
                <a:solidFill>
                  <a:srgbClr val="0F172A"/>
                </a:solidFill>
                <a:latin typeface="Segoe UI"/>
              </a:rPr>
              <a:t>Validate</a:t>
            </a:r>
          </a:p>
          <a:p>
            <a:pPr algn="l">
              <a:lnSpc>
                <a:spcPct val="120000"/>
              </a:lnSpc>
              <a:spcBef>
                <a:spcPts val="0"/>
              </a:spcBef>
              <a:spcAft>
                <a:spcPts val="0"/>
              </a:spcAft>
            </a:pPr>
            <a:r>
              <a:rPr sz="1050" b="0" i="0">
                <a:solidFill>
                  <a:srgbClr val="64748B"/>
                </a:solidFill>
                <a:latin typeface="Segoe UI"/>
              </a:rPr>
              <a:t>Size and count caps enforced during read</a:t>
            </a:r>
          </a:p>
        </p:txBody>
      </p:sp>
      <p:sp>
        <p:nvSpPr>
          <p:cNvPr id="15" name="Isosceles Triangle 14"/>
          <p:cNvSpPr/>
          <p:nvPr/>
        </p:nvSpPr>
        <p:spPr>
          <a:xfrm rot="5400000">
            <a:off x="4894051" y="2846666"/>
            <a:ext cx="201168" cy="201168"/>
          </a:xfrm>
          <a:prstGeom prst="triangl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27223" y="2352890"/>
            <a:ext cx="1937247"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127223" y="2352890"/>
            <a:ext cx="1937247"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291815" y="2554058"/>
            <a:ext cx="1608063" cy="868680"/>
          </a:xfrm>
          <a:prstGeom prst="rect">
            <a:avLst/>
          </a:prstGeom>
          <a:noFill/>
        </p:spPr>
        <p:txBody>
          <a:bodyPr wrap="square" lIns="0" rIns="0" tIns="0" bIns="0" anchor="t">
            <a:spAutoFit/>
          </a:bodyPr>
          <a:lstStyle/>
          <a:p>
            <a:pPr algn="l">
              <a:lnSpc>
                <a:spcPct val="110000"/>
              </a:lnSpc>
              <a:spcBef>
                <a:spcPts val="0"/>
              </a:spcBef>
              <a:spcAft>
                <a:spcPts val="500"/>
              </a:spcAft>
            </a:pPr>
            <a:r>
              <a:rPr sz="1350" b="1" i="0">
                <a:solidFill>
                  <a:srgbClr val="0F172A"/>
                </a:solidFill>
                <a:latin typeface="Segoe UI"/>
              </a:rPr>
              <a:t>Detect</a:t>
            </a:r>
          </a:p>
          <a:p>
            <a:pPr algn="l">
              <a:lnSpc>
                <a:spcPct val="120000"/>
              </a:lnSpc>
              <a:spcBef>
                <a:spcPts val="0"/>
              </a:spcBef>
              <a:spcAft>
                <a:spcPts val="0"/>
              </a:spcAft>
            </a:pPr>
            <a:r>
              <a:rPr sz="1050" b="0" i="0">
                <a:solidFill>
                  <a:srgbClr val="64748B"/>
                </a:solidFill>
                <a:latin typeface="Segoe UI"/>
              </a:rPr>
              <a:t>File kind from magic bytes</a:t>
            </a:r>
          </a:p>
        </p:txBody>
      </p:sp>
      <p:sp>
        <p:nvSpPr>
          <p:cNvPr id="19" name="Isosceles Triangle 18"/>
          <p:cNvSpPr/>
          <p:nvPr/>
        </p:nvSpPr>
        <p:spPr>
          <a:xfrm rot="5400000">
            <a:off x="7069043" y="2846666"/>
            <a:ext cx="201168" cy="201168"/>
          </a:xfrm>
          <a:prstGeom prst="triangl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02215" y="2352890"/>
            <a:ext cx="1937247"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302215" y="2352890"/>
            <a:ext cx="1937247"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466807" y="2554058"/>
            <a:ext cx="1608063" cy="868680"/>
          </a:xfrm>
          <a:prstGeom prst="rect">
            <a:avLst/>
          </a:prstGeom>
          <a:noFill/>
        </p:spPr>
        <p:txBody>
          <a:bodyPr wrap="square" lIns="0" rIns="0" tIns="0" bIns="0" anchor="t">
            <a:spAutoFit/>
          </a:bodyPr>
          <a:lstStyle/>
          <a:p>
            <a:pPr algn="l">
              <a:lnSpc>
                <a:spcPct val="110000"/>
              </a:lnSpc>
              <a:spcBef>
                <a:spcPts val="0"/>
              </a:spcBef>
              <a:spcAft>
                <a:spcPts val="500"/>
              </a:spcAft>
            </a:pPr>
            <a:r>
              <a:rPr sz="1350" b="1" i="0">
                <a:solidFill>
                  <a:srgbClr val="0F172A"/>
                </a:solidFill>
                <a:latin typeface="Segoe UI"/>
              </a:rPr>
              <a:t>Route</a:t>
            </a:r>
          </a:p>
          <a:p>
            <a:pPr algn="l">
              <a:lnSpc>
                <a:spcPct val="120000"/>
              </a:lnSpc>
              <a:spcBef>
                <a:spcPts val="0"/>
              </a:spcBef>
              <a:spcAft>
                <a:spcPts val="0"/>
              </a:spcAft>
            </a:pPr>
            <a:r>
              <a:rPr sz="1050" b="0" i="0">
                <a:solidFill>
                  <a:srgbClr val="64748B"/>
                </a:solidFill>
                <a:latin typeface="Segoe UI"/>
              </a:rPr>
              <a:t>Kind-keyed lookup to an engine</a:t>
            </a:r>
          </a:p>
        </p:txBody>
      </p:sp>
      <p:sp>
        <p:nvSpPr>
          <p:cNvPr id="23" name="Isosceles Triangle 22"/>
          <p:cNvSpPr/>
          <p:nvPr/>
        </p:nvSpPr>
        <p:spPr>
          <a:xfrm rot="5400000">
            <a:off x="9244035" y="2846666"/>
            <a:ext cx="201168" cy="201168"/>
          </a:xfrm>
          <a:prstGeom prst="triangl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477207" y="2352890"/>
            <a:ext cx="1937247" cy="1188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9477207" y="2352890"/>
            <a:ext cx="1937247"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641799" y="2554058"/>
            <a:ext cx="1608063" cy="868680"/>
          </a:xfrm>
          <a:prstGeom prst="rect">
            <a:avLst/>
          </a:prstGeom>
          <a:noFill/>
        </p:spPr>
        <p:txBody>
          <a:bodyPr wrap="square" lIns="0" rIns="0" tIns="0" bIns="0" anchor="t">
            <a:spAutoFit/>
          </a:bodyPr>
          <a:lstStyle/>
          <a:p>
            <a:pPr algn="l">
              <a:lnSpc>
                <a:spcPct val="110000"/>
              </a:lnSpc>
              <a:spcBef>
                <a:spcPts val="0"/>
              </a:spcBef>
              <a:spcAft>
                <a:spcPts val="500"/>
              </a:spcAft>
            </a:pPr>
            <a:r>
              <a:rPr sz="1350" b="1" i="0">
                <a:solidFill>
                  <a:srgbClr val="0F172A"/>
                </a:solidFill>
                <a:latin typeface="Segoe UI"/>
              </a:rPr>
              <a:t>Assemble</a:t>
            </a:r>
          </a:p>
          <a:p>
            <a:pPr algn="l">
              <a:lnSpc>
                <a:spcPct val="120000"/>
              </a:lnSpc>
              <a:spcBef>
                <a:spcPts val="0"/>
              </a:spcBef>
              <a:spcAft>
                <a:spcPts val="0"/>
              </a:spcAft>
            </a:pPr>
            <a:r>
              <a:rPr sz="1050" b="0" i="0">
                <a:solidFill>
                  <a:srgbClr val="64748B"/>
                </a:solidFill>
                <a:latin typeface="Segoe UI"/>
              </a:rPr>
              <a:t>Results returned in request order</a:t>
            </a:r>
          </a:p>
        </p:txBody>
      </p:sp>
      <p:sp>
        <p:nvSpPr>
          <p:cNvPr id="27" name="Rectangle 26"/>
          <p:cNvSpPr/>
          <p:nvPr/>
        </p:nvSpPr>
        <p:spPr>
          <a:xfrm>
            <a:off x="777240" y="3852506"/>
            <a:ext cx="10637215" cy="21945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97280" y="4035386"/>
            <a:ext cx="8229600" cy="320040"/>
          </a:xfrm>
          <a:prstGeom prst="rect">
            <a:avLst/>
          </a:prstGeom>
          <a:noFill/>
        </p:spPr>
        <p:txBody>
          <a:bodyPr wrap="square" lIns="0" rIns="0" tIns="0" bIns="0" anchor="t">
            <a:spAutoFit/>
          </a:bodyPr>
          <a:lstStyle/>
          <a:p>
            <a:pPr algn="l">
              <a:lnSpc>
                <a:spcPct val="125000"/>
              </a:lnSpc>
              <a:spcAft>
                <a:spcPts val="0"/>
              </a:spcAft>
            </a:pPr>
            <a:r>
              <a:rPr sz="1350" b="1" i="0">
                <a:solidFill>
                  <a:srgbClr val="0F172A"/>
                </a:solidFill>
                <a:latin typeface="Segoe UI"/>
              </a:rPr>
              <a:t>Engines — one interface, selected by detected kind</a:t>
            </a:r>
          </a:p>
        </p:txBody>
      </p:sp>
      <p:sp>
        <p:nvSpPr>
          <p:cNvPr id="29" name="Rectangle 28"/>
          <p:cNvSpPr/>
          <p:nvPr/>
        </p:nvSpPr>
        <p:spPr>
          <a:xfrm>
            <a:off x="1097280" y="4437722"/>
            <a:ext cx="3173882" cy="932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097280" y="4437722"/>
            <a:ext cx="45720" cy="93268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335024" y="4584026"/>
            <a:ext cx="2716682" cy="731520"/>
          </a:xfrm>
          <a:prstGeom prst="rect">
            <a:avLst/>
          </a:prstGeom>
          <a:noFill/>
        </p:spPr>
        <p:txBody>
          <a:bodyPr wrap="square" lIns="0" rIns="0" tIns="0" bIns="0" anchor="t">
            <a:spAutoFit/>
          </a:bodyPr>
          <a:lstStyle/>
          <a:p>
            <a:pPr algn="l">
              <a:lnSpc>
                <a:spcPct val="110000"/>
              </a:lnSpc>
              <a:spcBef>
                <a:spcPts val="0"/>
              </a:spcBef>
              <a:spcAft>
                <a:spcPts val="400"/>
              </a:spcAft>
            </a:pPr>
            <a:r>
              <a:rPr sz="1300" b="1" i="0">
                <a:solidFill>
                  <a:srgbClr val="1D4ED8"/>
                </a:solidFill>
                <a:latin typeface="Segoe UI"/>
              </a:rPr>
              <a:t>Layout Engine</a:t>
            </a:r>
          </a:p>
          <a:p>
            <a:pPr algn="l">
              <a:lnSpc>
                <a:spcPct val="122000"/>
              </a:lnSpc>
              <a:spcBef>
                <a:spcPts val="0"/>
              </a:spcBef>
              <a:spcAft>
                <a:spcPts val="0"/>
              </a:spcAft>
            </a:pPr>
            <a:r>
              <a:rPr sz="1050" b="0" i="0">
                <a:solidFill>
                  <a:srgbClr val="64748B"/>
                </a:solidFill>
                <a:latin typeface="Segoe UI"/>
              </a:rPr>
              <a:t>PDF · DOCX · PPTX · HTML
Cloud layout model → Markdown</a:t>
            </a:r>
          </a:p>
        </p:txBody>
      </p:sp>
      <p:sp>
        <p:nvSpPr>
          <p:cNvPr id="32" name="Rectangle 31"/>
          <p:cNvSpPr/>
          <p:nvPr/>
        </p:nvSpPr>
        <p:spPr>
          <a:xfrm>
            <a:off x="4508906" y="4437722"/>
            <a:ext cx="3173882" cy="932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508906" y="4437722"/>
            <a:ext cx="45720" cy="93268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746650" y="4584026"/>
            <a:ext cx="2716682" cy="731520"/>
          </a:xfrm>
          <a:prstGeom prst="rect">
            <a:avLst/>
          </a:prstGeom>
          <a:noFill/>
        </p:spPr>
        <p:txBody>
          <a:bodyPr wrap="square" lIns="0" rIns="0" tIns="0" bIns="0" anchor="t">
            <a:spAutoFit/>
          </a:bodyPr>
          <a:lstStyle/>
          <a:p>
            <a:pPr algn="l">
              <a:lnSpc>
                <a:spcPct val="110000"/>
              </a:lnSpc>
              <a:spcBef>
                <a:spcPts val="0"/>
              </a:spcBef>
              <a:spcAft>
                <a:spcPts val="400"/>
              </a:spcAft>
            </a:pPr>
            <a:r>
              <a:rPr sz="1300" b="1" i="0">
                <a:solidFill>
                  <a:srgbClr val="0F766E"/>
                </a:solidFill>
                <a:latin typeface="Segoe UI"/>
              </a:rPr>
              <a:t>Spreadsheet Engine</a:t>
            </a:r>
          </a:p>
          <a:p>
            <a:pPr algn="l">
              <a:lnSpc>
                <a:spcPct val="122000"/>
              </a:lnSpc>
              <a:spcBef>
                <a:spcPts val="0"/>
              </a:spcBef>
              <a:spcAft>
                <a:spcPts val="0"/>
              </a:spcAft>
            </a:pPr>
            <a:r>
              <a:rPr sz="1050" b="0" i="0">
                <a:solidFill>
                  <a:srgbClr val="64748B"/>
                </a:solidFill>
                <a:latin typeface="Segoe UI"/>
              </a:rPr>
              <a:t>XLSX
OpenXML, in-process, no network</a:t>
            </a:r>
          </a:p>
        </p:txBody>
      </p:sp>
      <p:sp>
        <p:nvSpPr>
          <p:cNvPr id="35" name="Rectangle 34"/>
          <p:cNvSpPr/>
          <p:nvPr/>
        </p:nvSpPr>
        <p:spPr>
          <a:xfrm>
            <a:off x="7920532" y="4437722"/>
            <a:ext cx="3173882" cy="932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7920532" y="4437722"/>
            <a:ext cx="45720" cy="93268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158276" y="4584026"/>
            <a:ext cx="2716682" cy="731520"/>
          </a:xfrm>
          <a:prstGeom prst="rect">
            <a:avLst/>
          </a:prstGeom>
          <a:noFill/>
        </p:spPr>
        <p:txBody>
          <a:bodyPr wrap="square" lIns="0" rIns="0" tIns="0" bIns="0" anchor="t">
            <a:spAutoFit/>
          </a:bodyPr>
          <a:lstStyle/>
          <a:p>
            <a:pPr algn="l">
              <a:lnSpc>
                <a:spcPct val="110000"/>
              </a:lnSpc>
              <a:spcBef>
                <a:spcPts val="0"/>
              </a:spcBef>
              <a:spcAft>
                <a:spcPts val="400"/>
              </a:spcAft>
            </a:pPr>
            <a:r>
              <a:rPr sz="1300" b="1" i="0">
                <a:solidFill>
                  <a:srgbClr val="6D28D9"/>
                </a:solidFill>
                <a:latin typeface="Segoe UI"/>
              </a:rPr>
              <a:t>Vision Engine</a:t>
            </a:r>
          </a:p>
          <a:p>
            <a:pPr algn="l">
              <a:lnSpc>
                <a:spcPct val="122000"/>
              </a:lnSpc>
              <a:spcBef>
                <a:spcPts val="0"/>
              </a:spcBef>
              <a:spcAft>
                <a:spcPts val="0"/>
              </a:spcAft>
            </a:pPr>
            <a:r>
              <a:rPr sz="1050" b="0" i="0">
                <a:solidFill>
                  <a:srgbClr val="64748B"/>
                </a:solidFill>
                <a:latin typeface="Segoe UI"/>
              </a:rPr>
              <a:t>JPG · PNG
Multimodal model → description</a:t>
            </a:r>
          </a:p>
        </p:txBody>
      </p:sp>
      <p:sp>
        <p:nvSpPr>
          <p:cNvPr id="38" name="TextBox 37"/>
          <p:cNvSpPr txBox="1"/>
          <p:nvPr/>
        </p:nvSpPr>
        <p:spPr>
          <a:xfrm>
            <a:off x="1097280" y="5516714"/>
            <a:ext cx="9997135" cy="457200"/>
          </a:xfrm>
          <a:prstGeom prst="rect">
            <a:avLst/>
          </a:prstGeom>
          <a:noFill/>
        </p:spPr>
        <p:txBody>
          <a:bodyPr wrap="square" lIns="0" rIns="0" tIns="0" bIns="0" anchor="t">
            <a:spAutoFit/>
          </a:bodyPr>
          <a:lstStyle/>
          <a:p>
            <a:pPr algn="l">
              <a:lnSpc>
                <a:spcPct val="125000"/>
              </a:lnSpc>
              <a:spcAft>
                <a:spcPts val="0"/>
              </a:spcAft>
            </a:pPr>
            <a:r>
              <a:rPr sz="1200" b="1" i="0">
                <a:solidFill>
                  <a:srgbClr val="0F172A"/>
                </a:solidFill>
                <a:latin typeface="Segoe UI"/>
              </a:rPr>
              <a:t>Adding a format is adding one class. </a:t>
            </a:r>
            <a:r>
              <a:rPr sz="1200" b="0" i="0">
                <a:solidFill>
                  <a:srgbClr val="64748B"/>
                </a:solidFill>
                <a:latin typeface="Segoe UI"/>
              </a:rPr>
              <a:t>Each engine declares the kinds it handles and returns the same result shape; the router owns the timeout and the catch-all, so no engine reimplements either.</a:t>
            </a:r>
          </a:p>
        </p:txBody>
      </p:sp>
      <p:sp>
        <p:nvSpPr>
          <p:cNvPr id="39" name="TextBox 38"/>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D4ED8"/>
                </a:solidFill>
                <a:latin typeface="Segoe UI"/>
              </a:rPr>
              <a:t>STEP ONE</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Detect the kind from the bytes, not the name</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File extensions and declared content types are caller-supplied. Magic bytes are not.</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8" name="Table 7"/>
          <p:cNvGraphicFramePr>
            <a:graphicFrameLocks noGrp="1"/>
          </p:cNvGraphicFramePr>
          <p:nvPr/>
        </p:nvGraphicFramePr>
        <p:xfrm>
          <a:off x="777240" y="2352890"/>
          <a:ext cx="10634472" cy="2441448"/>
        </p:xfrm>
        <a:graphic>
          <a:graphicData uri="http://schemas.openxmlformats.org/drawingml/2006/table">
            <a:tbl>
              <a:tblPr>
                <a:tableStyleId>{2D5ABB26-0587-4C30-8999-92F81FD0307C}</a:tableStyleId>
              </a:tblPr>
              <a:tblGrid>
                <a:gridCol w="2880360"/>
                <a:gridCol w="2331720"/>
                <a:gridCol w="5422392"/>
              </a:tblGrid>
              <a:tr h="384048">
                <a:tc>
                  <a:txBody>
                    <a:bodyPr wrap="square"/>
                    <a:lstStyle/>
                    <a:p>
                      <a:pPr>
                        <a:lnSpc>
                          <a:spcPct val="112000"/>
                        </a:lnSpc>
                      </a:pPr>
                      <a:r>
                        <a:rPr sz="1200" b="1">
                          <a:solidFill>
                            <a:srgbClr val="FFFFFF"/>
                          </a:solidFill>
                          <a:latin typeface="Segoe UI"/>
                        </a:rPr>
                        <a:t>Signature at offset 0</a:t>
                      </a:r>
                    </a:p>
                  </a:txBody>
                  <a:tcPr marL="146304" marR="91440" marT="36576" marB="36576" anchor="ctr">
                    <a:solidFill>
                      <a:srgbClr val="1D4ED8"/>
                    </a:solidFill>
                  </a:tcPr>
                </a:tc>
                <a:tc>
                  <a:txBody>
                    <a:bodyPr wrap="square"/>
                    <a:lstStyle/>
                    <a:p>
                      <a:pPr>
                        <a:lnSpc>
                          <a:spcPct val="112000"/>
                        </a:lnSpc>
                      </a:pPr>
                      <a:r>
                        <a:rPr sz="1200" b="1">
                          <a:solidFill>
                            <a:srgbClr val="FFFFFF"/>
                          </a:solidFill>
                          <a:latin typeface="Segoe UI"/>
                        </a:rPr>
                        <a:t>Detected as</a:t>
                      </a:r>
                    </a:p>
                  </a:txBody>
                  <a:tcPr marL="146304" marR="91440" marT="36576" marB="36576" anchor="ctr">
                    <a:solidFill>
                      <a:srgbClr val="1D4ED8"/>
                    </a:solidFill>
                  </a:tcPr>
                </a:tc>
                <a:tc>
                  <a:txBody>
                    <a:bodyPr wrap="square"/>
                    <a:lstStyle/>
                    <a:p>
                      <a:pPr>
                        <a:lnSpc>
                          <a:spcPct val="112000"/>
                        </a:lnSpc>
                      </a:pPr>
                      <a:r>
                        <a:rPr sz="1200" b="1">
                          <a:solidFill>
                            <a:srgbClr val="FFFFFF"/>
                          </a:solidFill>
                          <a:latin typeface="Segoe UI"/>
                        </a:rPr>
                        <a:t>Then disambiguated by</a:t>
                      </a:r>
                    </a:p>
                  </a:txBody>
                  <a:tcPr marL="146304" marR="91440" marT="36576" marB="36576" anchor="ctr">
                    <a:solidFill>
                      <a:srgbClr val="1D4ED8"/>
                    </a:solidFill>
                  </a:tcPr>
                </a:tc>
              </a:tr>
              <a:tr h="411480">
                <a:tc>
                  <a:txBody>
                    <a:bodyPr wrap="square"/>
                    <a:lstStyle/>
                    <a:p>
                      <a:pPr>
                        <a:lnSpc>
                          <a:spcPct val="112000"/>
                        </a:lnSpc>
                      </a:pPr>
                      <a:r>
                        <a:rPr sz="1200" b="1">
                          <a:solidFill>
                            <a:srgbClr val="0F172A"/>
                          </a:solidFill>
                          <a:latin typeface="Segoe UI"/>
                        </a:rPr>
                        <a:t>%PDF</a:t>
                      </a:r>
                    </a:p>
                  </a:txBody>
                  <a:tcPr marL="146304" marR="91440" marT="36576" marB="36576" anchor="ctr">
                    <a:solidFill>
                      <a:srgbClr val="FFFFFF"/>
                    </a:solidFill>
                  </a:tcPr>
                </a:tc>
                <a:tc>
                  <a:txBody>
                    <a:bodyPr wrap="square"/>
                    <a:lstStyle/>
                    <a:p>
                      <a:pPr>
                        <a:lnSpc>
                          <a:spcPct val="112000"/>
                        </a:lnSpc>
                      </a:pPr>
                      <a:r>
                        <a:rPr sz="1200" b="0">
                          <a:solidFill>
                            <a:srgbClr val="0F172A"/>
                          </a:solidFill>
                          <a:latin typeface="Segoe UI"/>
                        </a:rPr>
                        <a:t>PDF</a:t>
                      </a:r>
                    </a:p>
                  </a:txBody>
                  <a:tcPr marL="146304" marR="91440" marT="36576" marB="36576" anchor="ctr">
                    <a:solidFill>
                      <a:srgbClr val="FFFFFF"/>
                    </a:solidFill>
                  </a:tcPr>
                </a:tc>
                <a:tc>
                  <a:txBody>
                    <a:bodyPr wrap="square"/>
                    <a:lstStyle/>
                    <a:p>
                      <a:pPr>
                        <a:lnSpc>
                          <a:spcPct val="112000"/>
                        </a:lnSpc>
                      </a:pPr>
                      <a:r>
                        <a:rPr sz="1200" b="0">
                          <a:solidFill>
                            <a:srgbClr val="0F172A"/>
                          </a:solidFill>
                          <a:latin typeface="Segoe UI"/>
                        </a:rPr>
                        <a:t>—</a:t>
                      </a:r>
                    </a:p>
                  </a:txBody>
                  <a:tcPr marL="146304" marR="91440" marT="36576" marB="36576" anchor="ctr">
                    <a:solidFill>
                      <a:srgbClr val="FFFFFF"/>
                    </a:solidFill>
                  </a:tcPr>
                </a:tc>
              </a:tr>
              <a:tr h="411480">
                <a:tc>
                  <a:txBody>
                    <a:bodyPr wrap="square"/>
                    <a:lstStyle/>
                    <a:p>
                      <a:pPr>
                        <a:lnSpc>
                          <a:spcPct val="112000"/>
                        </a:lnSpc>
                      </a:pPr>
                      <a:r>
                        <a:rPr sz="1200" b="1">
                          <a:solidFill>
                            <a:srgbClr val="0F172A"/>
                          </a:solidFill>
                          <a:latin typeface="Segoe UI"/>
                        </a:rPr>
                        <a:t>\x89PNG\r\n\x1a\n</a:t>
                      </a:r>
                    </a:p>
                  </a:txBody>
                  <a:tcPr marL="146304" marR="91440" marT="36576" marB="36576" anchor="ctr">
                    <a:solidFill>
                      <a:srgbClr val="F1F5F9"/>
                    </a:solidFill>
                  </a:tcPr>
                </a:tc>
                <a:tc>
                  <a:txBody>
                    <a:bodyPr wrap="square"/>
                    <a:lstStyle/>
                    <a:p>
                      <a:pPr>
                        <a:lnSpc>
                          <a:spcPct val="112000"/>
                        </a:lnSpc>
                      </a:pPr>
                      <a:r>
                        <a:rPr sz="1200" b="0">
                          <a:solidFill>
                            <a:srgbClr val="0F172A"/>
                          </a:solidFill>
                          <a:latin typeface="Segoe UI"/>
                        </a:rPr>
                        <a:t>PNG image</a:t>
                      </a:r>
                    </a:p>
                  </a:txBody>
                  <a:tcPr marL="146304" marR="91440" marT="36576" marB="36576" anchor="ctr">
                    <a:solidFill>
                      <a:srgbClr val="F1F5F9"/>
                    </a:solidFill>
                  </a:tcPr>
                </a:tc>
                <a:tc>
                  <a:txBody>
                    <a:bodyPr wrap="square"/>
                    <a:lstStyle/>
                    <a:p>
                      <a:pPr>
                        <a:lnSpc>
                          <a:spcPct val="112000"/>
                        </a:lnSpc>
                      </a:pPr>
                      <a:r>
                        <a:rPr sz="1200" b="0">
                          <a:solidFill>
                            <a:srgbClr val="0F172A"/>
                          </a:solidFill>
                          <a:latin typeface="Segoe UI"/>
                        </a:rPr>
                        <a:t>—</a:t>
                      </a:r>
                    </a:p>
                  </a:txBody>
                  <a:tcPr marL="146304" marR="91440" marT="36576" marB="36576" anchor="ctr">
                    <a:solidFill>
                      <a:srgbClr val="F1F5F9"/>
                    </a:solidFill>
                  </a:tcPr>
                </a:tc>
              </a:tr>
              <a:tr h="411480">
                <a:tc>
                  <a:txBody>
                    <a:bodyPr wrap="square"/>
                    <a:lstStyle/>
                    <a:p>
                      <a:pPr>
                        <a:lnSpc>
                          <a:spcPct val="112000"/>
                        </a:lnSpc>
                      </a:pPr>
                      <a:r>
                        <a:rPr sz="1200" b="1">
                          <a:solidFill>
                            <a:srgbClr val="0F172A"/>
                          </a:solidFill>
                          <a:latin typeface="Segoe UI"/>
                        </a:rPr>
                        <a:t>\xFF\xD8\xFF</a:t>
                      </a:r>
                    </a:p>
                  </a:txBody>
                  <a:tcPr marL="146304" marR="91440" marT="36576" marB="36576" anchor="ctr">
                    <a:solidFill>
                      <a:srgbClr val="FFFFFF"/>
                    </a:solidFill>
                  </a:tcPr>
                </a:tc>
                <a:tc>
                  <a:txBody>
                    <a:bodyPr wrap="square"/>
                    <a:lstStyle/>
                    <a:p>
                      <a:pPr>
                        <a:lnSpc>
                          <a:spcPct val="112000"/>
                        </a:lnSpc>
                      </a:pPr>
                      <a:r>
                        <a:rPr sz="1200" b="0">
                          <a:solidFill>
                            <a:srgbClr val="0F172A"/>
                          </a:solidFill>
                          <a:latin typeface="Segoe UI"/>
                        </a:rPr>
                        <a:t>JPEG image</a:t>
                      </a:r>
                    </a:p>
                  </a:txBody>
                  <a:tcPr marL="146304" marR="91440" marT="36576" marB="36576" anchor="ctr">
                    <a:solidFill>
                      <a:srgbClr val="FFFFFF"/>
                    </a:solidFill>
                  </a:tcPr>
                </a:tc>
                <a:tc>
                  <a:txBody>
                    <a:bodyPr wrap="square"/>
                    <a:lstStyle/>
                    <a:p>
                      <a:pPr>
                        <a:lnSpc>
                          <a:spcPct val="112000"/>
                        </a:lnSpc>
                      </a:pPr>
                      <a:r>
                        <a:rPr sz="1200" b="0">
                          <a:solidFill>
                            <a:srgbClr val="0F172A"/>
                          </a:solidFill>
                          <a:latin typeface="Segoe UI"/>
                        </a:rPr>
                        <a:t>—</a:t>
                      </a:r>
                    </a:p>
                  </a:txBody>
                  <a:tcPr marL="146304" marR="91440" marT="36576" marB="36576" anchor="ctr">
                    <a:solidFill>
                      <a:srgbClr val="FFFFFF"/>
                    </a:solidFill>
                  </a:tcPr>
                </a:tc>
              </a:tr>
              <a:tr h="411480">
                <a:tc>
                  <a:txBody>
                    <a:bodyPr wrap="square"/>
                    <a:lstStyle/>
                    <a:p>
                      <a:pPr>
                        <a:lnSpc>
                          <a:spcPct val="112000"/>
                        </a:lnSpc>
                      </a:pPr>
                      <a:r>
                        <a:rPr sz="1200" b="1">
                          <a:solidFill>
                            <a:srgbClr val="0F172A"/>
                          </a:solidFill>
                          <a:latin typeface="Segoe UI"/>
                        </a:rPr>
                        <a:t>PK  (ZIP container)</a:t>
                      </a:r>
                    </a:p>
                  </a:txBody>
                  <a:tcPr marL="146304" marR="91440" marT="36576" marB="36576" anchor="ctr">
                    <a:solidFill>
                      <a:srgbClr val="F1F5F9"/>
                    </a:solidFill>
                  </a:tcPr>
                </a:tc>
                <a:tc>
                  <a:txBody>
                    <a:bodyPr wrap="square"/>
                    <a:lstStyle/>
                    <a:p>
                      <a:pPr>
                        <a:lnSpc>
                          <a:spcPct val="112000"/>
                        </a:lnSpc>
                      </a:pPr>
                      <a:r>
                        <a:rPr sz="1200" b="0">
                          <a:solidFill>
                            <a:srgbClr val="0F172A"/>
                          </a:solidFill>
                          <a:latin typeface="Segoe UI"/>
                        </a:rPr>
                        <a:t>Office document</a:t>
                      </a:r>
                    </a:p>
                  </a:txBody>
                  <a:tcPr marL="146304" marR="91440" marT="36576" marB="36576" anchor="ctr">
                    <a:solidFill>
                      <a:srgbClr val="F1F5F9"/>
                    </a:solidFill>
                  </a:tcPr>
                </a:tc>
                <a:tc>
                  <a:txBody>
                    <a:bodyPr wrap="square"/>
                    <a:lstStyle/>
                    <a:p>
                      <a:pPr>
                        <a:lnSpc>
                          <a:spcPct val="112000"/>
                        </a:lnSpc>
                      </a:pPr>
                      <a:r>
                        <a:rPr sz="1200" b="0">
                          <a:solidFill>
                            <a:srgbClr val="0F172A"/>
                          </a:solidFill>
                          <a:latin typeface="Segoe UI"/>
                        </a:rPr>
                        <a:t>Content type, else extension → DOCX / XLSX / PPTX</a:t>
                      </a:r>
                    </a:p>
                  </a:txBody>
                  <a:tcPr marL="146304" marR="91440" marT="36576" marB="36576" anchor="ctr">
                    <a:solidFill>
                      <a:srgbClr val="F1F5F9"/>
                    </a:solidFill>
                  </a:tcPr>
                </a:tc>
              </a:tr>
              <a:tr h="411480">
                <a:tc>
                  <a:txBody>
                    <a:bodyPr wrap="square"/>
                    <a:lstStyle/>
                    <a:p>
                      <a:pPr>
                        <a:lnSpc>
                          <a:spcPct val="112000"/>
                        </a:lnSpc>
                      </a:pPr>
                      <a:r>
                        <a:rPr sz="1200" b="1">
                          <a:solidFill>
                            <a:srgbClr val="0F172A"/>
                          </a:solidFill>
                          <a:latin typeface="Segoe UI"/>
                        </a:rPr>
                        <a:t>&lt;!doctype  or  &lt;html</a:t>
                      </a:r>
                    </a:p>
                  </a:txBody>
                  <a:tcPr marL="146304" marR="91440" marT="36576" marB="36576" anchor="ctr">
                    <a:solidFill>
                      <a:srgbClr val="FFFFFF"/>
                    </a:solidFill>
                  </a:tcPr>
                </a:tc>
                <a:tc>
                  <a:txBody>
                    <a:bodyPr wrap="square"/>
                    <a:lstStyle/>
                    <a:p>
                      <a:pPr>
                        <a:lnSpc>
                          <a:spcPct val="112000"/>
                        </a:lnSpc>
                      </a:pPr>
                      <a:r>
                        <a:rPr sz="1200" b="0">
                          <a:solidFill>
                            <a:srgbClr val="0F172A"/>
                          </a:solidFill>
                          <a:latin typeface="Segoe UI"/>
                        </a:rPr>
                        <a:t>HTML</a:t>
                      </a:r>
                    </a:p>
                  </a:txBody>
                  <a:tcPr marL="146304" marR="91440" marT="36576" marB="36576" anchor="ctr">
                    <a:solidFill>
                      <a:srgbClr val="FFFFFF"/>
                    </a:solidFill>
                  </a:tcPr>
                </a:tc>
                <a:tc>
                  <a:txBody>
                    <a:bodyPr wrap="square"/>
                    <a:lstStyle/>
                    <a:p>
                      <a:pPr>
                        <a:lnSpc>
                          <a:spcPct val="112000"/>
                        </a:lnSpc>
                      </a:pPr>
                      <a:r>
                        <a:rPr sz="1200" b="0">
                          <a:solidFill>
                            <a:srgbClr val="0F172A"/>
                          </a:solidFill>
                          <a:latin typeface="Segoe UI"/>
                        </a:rPr>
                        <a:t>Also accepted on content type or .html / .htm</a:t>
                      </a:r>
                    </a:p>
                  </a:txBody>
                  <a:tcPr marL="146304" marR="91440" marT="36576" marB="36576" anchor="ctr">
                    <a:solidFill>
                      <a:srgbClr val="FFFFFF"/>
                    </a:solidFill>
                  </a:tcPr>
                </a:tc>
              </a:tr>
            </a:tbl>
          </a:graphicData>
        </a:graphic>
      </p:graphicFrame>
      <p:sp>
        <p:nvSpPr>
          <p:cNvPr id="9" name="Rectangle 8"/>
          <p:cNvSpPr/>
          <p:nvPr/>
        </p:nvSpPr>
        <p:spPr>
          <a:xfrm>
            <a:off x="777240" y="5105234"/>
            <a:ext cx="5166360" cy="12070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77240" y="5105234"/>
            <a:ext cx="45720" cy="1207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9848" y="5269826"/>
            <a:ext cx="4617720" cy="950976"/>
          </a:xfrm>
          <a:prstGeom prst="rect">
            <a:avLst/>
          </a:prstGeom>
          <a:noFill/>
        </p:spPr>
        <p:txBody>
          <a:bodyPr wrap="square" lIns="0" rIns="0" tIns="0" bIns="0" anchor="t">
            <a:spAutoFit/>
          </a:bodyPr>
          <a:lstStyle/>
          <a:p>
            <a:pPr algn="l">
              <a:lnSpc>
                <a:spcPct val="110000"/>
              </a:lnSpc>
              <a:spcBef>
                <a:spcPts val="0"/>
              </a:spcBef>
              <a:spcAft>
                <a:spcPts val="600"/>
              </a:spcAft>
            </a:pPr>
            <a:r>
              <a:rPr sz="1300" b="1" i="0">
                <a:solidFill>
                  <a:srgbClr val="0F172A"/>
                </a:solidFill>
                <a:latin typeface="Segoe UI"/>
              </a:rPr>
              <a:t>When the claim contradicts the bytes</a:t>
            </a:r>
          </a:p>
          <a:p>
            <a:pPr algn="l">
              <a:lnSpc>
                <a:spcPct val="127000"/>
              </a:lnSpc>
              <a:spcBef>
                <a:spcPts val="0"/>
              </a:spcBef>
              <a:spcAft>
                <a:spcPts val="0"/>
              </a:spcAft>
            </a:pPr>
            <a:r>
              <a:rPr sz="1200" b="0" i="0">
                <a:solidFill>
                  <a:srgbClr val="64748B"/>
                </a:solidFill>
                <a:latin typeface="Segoe UI"/>
              </a:rPr>
              <a:t>The bytes win, the file is still processed, and a warning names the mismatch. A mislabelled upload is common and entirely recoverable.</a:t>
            </a:r>
          </a:p>
        </p:txBody>
      </p:sp>
      <p:sp>
        <p:nvSpPr>
          <p:cNvPr id="12" name="Rectangle 11"/>
          <p:cNvSpPr/>
          <p:nvPr/>
        </p:nvSpPr>
        <p:spPr>
          <a:xfrm>
            <a:off x="6263640" y="5105234"/>
            <a:ext cx="5148072" cy="12070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63640" y="5105234"/>
            <a:ext cx="45720" cy="1207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56248" y="5269826"/>
            <a:ext cx="4599432" cy="950976"/>
          </a:xfrm>
          <a:prstGeom prst="rect">
            <a:avLst/>
          </a:prstGeom>
          <a:noFill/>
        </p:spPr>
        <p:txBody>
          <a:bodyPr wrap="square" lIns="0" rIns="0" tIns="0" bIns="0" anchor="t">
            <a:spAutoFit/>
          </a:bodyPr>
          <a:lstStyle/>
          <a:p>
            <a:pPr algn="l">
              <a:lnSpc>
                <a:spcPct val="110000"/>
              </a:lnSpc>
              <a:spcBef>
                <a:spcPts val="0"/>
              </a:spcBef>
              <a:spcAft>
                <a:spcPts val="600"/>
              </a:spcAft>
            </a:pPr>
            <a:r>
              <a:rPr sz="1300" b="1" i="0">
                <a:solidFill>
                  <a:srgbClr val="0F172A"/>
                </a:solidFill>
                <a:latin typeface="Segoe UI"/>
              </a:rPr>
              <a:t>When nothing matches</a:t>
            </a:r>
          </a:p>
          <a:p>
            <a:pPr algn="l">
              <a:lnSpc>
                <a:spcPct val="127000"/>
              </a:lnSpc>
              <a:spcBef>
                <a:spcPts val="0"/>
              </a:spcBef>
              <a:spcAft>
                <a:spcPts val="0"/>
              </a:spcAft>
            </a:pPr>
            <a:r>
              <a:rPr sz="1200" b="0" i="0">
                <a:solidFill>
                  <a:srgbClr val="64748B"/>
                </a:solidFill>
                <a:latin typeface="Segoe UI"/>
              </a:rPr>
              <a:t>That file gets an unsupported_type error and the batch proceeds untouched. Detection failure is a per-file outcome.</a:t>
            </a:r>
          </a:p>
        </p:txBody>
      </p:sp>
      <p:sp>
        <p:nvSpPr>
          <p:cNvPr id="15" name="TextBox 14"/>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D4ED8"/>
                </a:solidFill>
                <a:latin typeface="Segoe UI"/>
              </a:rPr>
              <a:t>STEP TWO</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One kind, one engine, one strategy</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Three different problems, so three different implementations — not one library pressed into every shape.</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8" name="Table 7"/>
          <p:cNvGraphicFramePr>
            <a:graphicFrameLocks noGrp="1"/>
          </p:cNvGraphicFramePr>
          <p:nvPr/>
        </p:nvGraphicFramePr>
        <p:xfrm>
          <a:off x="777240" y="2352890"/>
          <a:ext cx="10634472" cy="2889504"/>
        </p:xfrm>
        <a:graphic>
          <a:graphicData uri="http://schemas.openxmlformats.org/drawingml/2006/table">
            <a:tbl>
              <a:tblPr>
                <a:tableStyleId>{2D5ABB26-0587-4C30-8999-92F81FD0307C}</a:tableStyleId>
              </a:tblPr>
              <a:tblGrid>
                <a:gridCol w="3063240"/>
                <a:gridCol w="1965960"/>
                <a:gridCol w="3246120"/>
                <a:gridCol w="2359152"/>
              </a:tblGrid>
              <a:tr h="420624">
                <a:tc>
                  <a:txBody>
                    <a:bodyPr wrap="square"/>
                    <a:lstStyle/>
                    <a:p>
                      <a:pPr>
                        <a:lnSpc>
                          <a:spcPct val="112000"/>
                        </a:lnSpc>
                      </a:pPr>
                      <a:r>
                        <a:rPr sz="1250" b="1">
                          <a:solidFill>
                            <a:srgbClr val="FFFFFF"/>
                          </a:solidFill>
                          <a:latin typeface="Segoe UI"/>
                        </a:rPr>
                        <a:t>File kind</a:t>
                      </a:r>
                    </a:p>
                  </a:txBody>
                  <a:tcPr marL="146304" marR="91440" marT="36576" marB="36576" anchor="ctr">
                    <a:solidFill>
                      <a:srgbClr val="1D4ED8"/>
                    </a:solidFill>
                  </a:tcPr>
                </a:tc>
                <a:tc>
                  <a:txBody>
                    <a:bodyPr wrap="square"/>
                    <a:lstStyle/>
                    <a:p>
                      <a:pPr>
                        <a:lnSpc>
                          <a:spcPct val="112000"/>
                        </a:lnSpc>
                      </a:pPr>
                      <a:r>
                        <a:rPr sz="1250" b="1">
                          <a:solidFill>
                            <a:srgbClr val="FFFFFF"/>
                          </a:solidFill>
                          <a:latin typeface="Segoe UI"/>
                        </a:rPr>
                        <a:t>Engine</a:t>
                      </a:r>
                    </a:p>
                  </a:txBody>
                  <a:tcPr marL="146304" marR="91440" marT="36576" marB="36576" anchor="ctr">
                    <a:solidFill>
                      <a:srgbClr val="1D4ED8"/>
                    </a:solidFill>
                  </a:tcPr>
                </a:tc>
                <a:tc>
                  <a:txBody>
                    <a:bodyPr wrap="square"/>
                    <a:lstStyle/>
                    <a:p>
                      <a:pPr>
                        <a:lnSpc>
                          <a:spcPct val="112000"/>
                        </a:lnSpc>
                      </a:pPr>
                      <a:r>
                        <a:rPr sz="1250" b="1">
                          <a:solidFill>
                            <a:srgbClr val="FFFFFF"/>
                          </a:solidFill>
                          <a:latin typeface="Segoe UI"/>
                        </a:rPr>
                        <a:t>Technology</a:t>
                      </a:r>
                    </a:p>
                  </a:txBody>
                  <a:tcPr marL="146304" marR="91440" marT="36576" marB="36576" anchor="ctr">
                    <a:solidFill>
                      <a:srgbClr val="1D4ED8"/>
                    </a:solidFill>
                  </a:tcPr>
                </a:tc>
                <a:tc>
                  <a:txBody>
                    <a:bodyPr wrap="square"/>
                    <a:lstStyle/>
                    <a:p>
                      <a:pPr>
                        <a:lnSpc>
                          <a:spcPct val="112000"/>
                        </a:lnSpc>
                      </a:pPr>
                      <a:r>
                        <a:rPr sz="1250" b="1">
                          <a:solidFill>
                            <a:srgbClr val="FFFFFF"/>
                          </a:solidFill>
                          <a:latin typeface="Segoe UI"/>
                        </a:rPr>
                        <a:t>Primary output</a:t>
                      </a:r>
                    </a:p>
                  </a:txBody>
                  <a:tcPr marL="146304" marR="91440" marT="36576" marB="36576" anchor="ctr">
                    <a:solidFill>
                      <a:srgbClr val="1D4ED8"/>
                    </a:solidFill>
                  </a:tcPr>
                </a:tc>
              </a:tr>
              <a:tr h="411480">
                <a:tc>
                  <a:txBody>
                    <a:bodyPr wrap="square"/>
                    <a:lstStyle/>
                    <a:p>
                      <a:pPr>
                        <a:lnSpc>
                          <a:spcPct val="112000"/>
                        </a:lnSpc>
                      </a:pPr>
                      <a:r>
                        <a:rPr sz="1250" b="1">
                          <a:solidFill>
                            <a:srgbClr val="0F172A"/>
                          </a:solidFill>
                          <a:latin typeface="Segoe UI"/>
                        </a:rPr>
                        <a:t>PDF (digital or scanned)</a:t>
                      </a:r>
                    </a:p>
                  </a:txBody>
                  <a:tcPr marL="146304" marR="91440" marT="36576" marB="36576" anchor="ctr">
                    <a:solidFill>
                      <a:srgbClr val="FFFFFF"/>
                    </a:solidFill>
                  </a:tcPr>
                </a:tc>
                <a:tc>
                  <a:txBody>
                    <a:bodyPr wrap="square"/>
                    <a:lstStyle/>
                    <a:p>
                      <a:pPr>
                        <a:lnSpc>
                          <a:spcPct val="112000"/>
                        </a:lnSpc>
                      </a:pPr>
                      <a:r>
                        <a:rPr sz="1250" b="0">
                          <a:solidFill>
                            <a:srgbClr val="0F172A"/>
                          </a:solidFill>
                          <a:latin typeface="Segoe UI"/>
                        </a:rPr>
                        <a:t>Layout</a:t>
                      </a:r>
                    </a:p>
                  </a:txBody>
                  <a:tcPr marL="146304" marR="91440" marT="36576" marB="36576" anchor="ctr">
                    <a:solidFill>
                      <a:srgbClr val="FFFFFF"/>
                    </a:solidFill>
                  </a:tcPr>
                </a:tc>
                <a:tc>
                  <a:txBody>
                    <a:bodyPr wrap="square"/>
                    <a:lstStyle/>
                    <a:p>
                      <a:pPr>
                        <a:lnSpc>
                          <a:spcPct val="112000"/>
                        </a:lnSpc>
                      </a:pPr>
                      <a:r>
                        <a:rPr sz="1250" b="0">
                          <a:solidFill>
                            <a:srgbClr val="0F172A"/>
                          </a:solidFill>
                          <a:latin typeface="Segoe UI"/>
                        </a:rPr>
                        <a:t>Cloud layout model</a:t>
                      </a:r>
                    </a:p>
                  </a:txBody>
                  <a:tcPr marL="146304" marR="91440" marT="36576" marB="36576" anchor="ctr">
                    <a:solidFill>
                      <a:srgbClr val="FFFFFF"/>
                    </a:solidFill>
                  </a:tcPr>
                </a:tc>
                <a:tc>
                  <a:txBody>
                    <a:bodyPr wrap="square"/>
                    <a:lstStyle/>
                    <a:p>
                      <a:pPr>
                        <a:lnSpc>
                          <a:spcPct val="112000"/>
                        </a:lnSpc>
                      </a:pPr>
                      <a:r>
                        <a:rPr sz="1250" b="0">
                          <a:solidFill>
                            <a:srgbClr val="0F172A"/>
                          </a:solidFill>
                          <a:latin typeface="Segoe UI"/>
                        </a:rPr>
                        <a:t>Markdown</a:t>
                      </a:r>
                    </a:p>
                  </a:txBody>
                  <a:tcPr marL="146304" marR="91440" marT="36576" marB="36576" anchor="ctr">
                    <a:solidFill>
                      <a:srgbClr val="FFFFFF"/>
                    </a:solidFill>
                  </a:tcPr>
                </a:tc>
              </a:tr>
              <a:tr h="411480">
                <a:tc>
                  <a:txBody>
                    <a:bodyPr wrap="square"/>
                    <a:lstStyle/>
                    <a:p>
                      <a:pPr>
                        <a:lnSpc>
                          <a:spcPct val="112000"/>
                        </a:lnSpc>
                      </a:pPr>
                      <a:r>
                        <a:rPr sz="1250" b="1">
                          <a:solidFill>
                            <a:srgbClr val="0F172A"/>
                          </a:solidFill>
                          <a:latin typeface="Segoe UI"/>
                        </a:rPr>
                        <a:t>DOCX</a:t>
                      </a:r>
                    </a:p>
                  </a:txBody>
                  <a:tcPr marL="146304" marR="91440" marT="36576" marB="36576" anchor="ctr">
                    <a:solidFill>
                      <a:srgbClr val="F1F5F9"/>
                    </a:solidFill>
                  </a:tcPr>
                </a:tc>
                <a:tc>
                  <a:txBody>
                    <a:bodyPr wrap="square"/>
                    <a:lstStyle/>
                    <a:p>
                      <a:pPr>
                        <a:lnSpc>
                          <a:spcPct val="112000"/>
                        </a:lnSpc>
                      </a:pPr>
                      <a:r>
                        <a:rPr sz="1250" b="0">
                          <a:solidFill>
                            <a:srgbClr val="0F172A"/>
                          </a:solidFill>
                          <a:latin typeface="Segoe UI"/>
                        </a:rPr>
                        <a:t>Layout</a:t>
                      </a:r>
                    </a:p>
                  </a:txBody>
                  <a:tcPr marL="146304" marR="91440" marT="36576" marB="36576" anchor="ctr">
                    <a:solidFill>
                      <a:srgbClr val="F1F5F9"/>
                    </a:solidFill>
                  </a:tcPr>
                </a:tc>
                <a:tc>
                  <a:txBody>
                    <a:bodyPr wrap="square"/>
                    <a:lstStyle/>
                    <a:p>
                      <a:pPr>
                        <a:lnSpc>
                          <a:spcPct val="112000"/>
                        </a:lnSpc>
                      </a:pPr>
                      <a:r>
                        <a:rPr sz="1250" b="0">
                          <a:solidFill>
                            <a:srgbClr val="0F172A"/>
                          </a:solidFill>
                          <a:latin typeface="Segoe UI"/>
                        </a:rPr>
                        <a:t>Cloud layout model</a:t>
                      </a:r>
                    </a:p>
                  </a:txBody>
                  <a:tcPr marL="146304" marR="91440" marT="36576" marB="36576" anchor="ctr">
                    <a:solidFill>
                      <a:srgbClr val="F1F5F9"/>
                    </a:solidFill>
                  </a:tcPr>
                </a:tc>
                <a:tc>
                  <a:txBody>
                    <a:bodyPr wrap="square"/>
                    <a:lstStyle/>
                    <a:p>
                      <a:pPr>
                        <a:lnSpc>
                          <a:spcPct val="112000"/>
                        </a:lnSpc>
                      </a:pPr>
                      <a:r>
                        <a:rPr sz="1250" b="0">
                          <a:solidFill>
                            <a:srgbClr val="0F172A"/>
                          </a:solidFill>
                          <a:latin typeface="Segoe UI"/>
                        </a:rPr>
                        <a:t>Markdown</a:t>
                      </a:r>
                    </a:p>
                  </a:txBody>
                  <a:tcPr marL="146304" marR="91440" marT="36576" marB="36576" anchor="ctr">
                    <a:solidFill>
                      <a:srgbClr val="F1F5F9"/>
                    </a:solidFill>
                  </a:tcPr>
                </a:tc>
              </a:tr>
              <a:tr h="411480">
                <a:tc>
                  <a:txBody>
                    <a:bodyPr wrap="square"/>
                    <a:lstStyle/>
                    <a:p>
                      <a:pPr>
                        <a:lnSpc>
                          <a:spcPct val="112000"/>
                        </a:lnSpc>
                      </a:pPr>
                      <a:r>
                        <a:rPr sz="1250" b="1">
                          <a:solidFill>
                            <a:srgbClr val="0F172A"/>
                          </a:solidFill>
                          <a:latin typeface="Segoe UI"/>
                        </a:rPr>
                        <a:t>PPTX</a:t>
                      </a:r>
                    </a:p>
                  </a:txBody>
                  <a:tcPr marL="146304" marR="91440" marT="36576" marB="36576" anchor="ctr">
                    <a:solidFill>
                      <a:srgbClr val="FFFFFF"/>
                    </a:solidFill>
                  </a:tcPr>
                </a:tc>
                <a:tc>
                  <a:txBody>
                    <a:bodyPr wrap="square"/>
                    <a:lstStyle/>
                    <a:p>
                      <a:pPr>
                        <a:lnSpc>
                          <a:spcPct val="112000"/>
                        </a:lnSpc>
                      </a:pPr>
                      <a:r>
                        <a:rPr sz="1250" b="0">
                          <a:solidFill>
                            <a:srgbClr val="0F172A"/>
                          </a:solidFill>
                          <a:latin typeface="Segoe UI"/>
                        </a:rPr>
                        <a:t>Layout</a:t>
                      </a:r>
                    </a:p>
                  </a:txBody>
                  <a:tcPr marL="146304" marR="91440" marT="36576" marB="36576" anchor="ctr">
                    <a:solidFill>
                      <a:srgbClr val="FFFFFF"/>
                    </a:solidFill>
                  </a:tcPr>
                </a:tc>
                <a:tc>
                  <a:txBody>
                    <a:bodyPr wrap="square"/>
                    <a:lstStyle/>
                    <a:p>
                      <a:pPr>
                        <a:lnSpc>
                          <a:spcPct val="112000"/>
                        </a:lnSpc>
                      </a:pPr>
                      <a:r>
                        <a:rPr sz="1250" b="0">
                          <a:solidFill>
                            <a:srgbClr val="0F172A"/>
                          </a:solidFill>
                          <a:latin typeface="Segoe UI"/>
                        </a:rPr>
                        <a:t>Cloud layout model</a:t>
                      </a:r>
                    </a:p>
                  </a:txBody>
                  <a:tcPr marL="146304" marR="91440" marT="36576" marB="36576" anchor="ctr">
                    <a:solidFill>
                      <a:srgbClr val="FFFFFF"/>
                    </a:solidFill>
                  </a:tcPr>
                </a:tc>
                <a:tc>
                  <a:txBody>
                    <a:bodyPr wrap="square"/>
                    <a:lstStyle/>
                    <a:p>
                      <a:pPr>
                        <a:lnSpc>
                          <a:spcPct val="112000"/>
                        </a:lnSpc>
                      </a:pPr>
                      <a:r>
                        <a:rPr sz="1250" b="0">
                          <a:solidFill>
                            <a:srgbClr val="0F172A"/>
                          </a:solidFill>
                          <a:latin typeface="Segoe UI"/>
                        </a:rPr>
                        <a:t>Markdown</a:t>
                      </a:r>
                    </a:p>
                  </a:txBody>
                  <a:tcPr marL="146304" marR="91440" marT="36576" marB="36576" anchor="ctr">
                    <a:solidFill>
                      <a:srgbClr val="FFFFFF"/>
                    </a:solidFill>
                  </a:tcPr>
                </a:tc>
              </a:tr>
              <a:tr h="411480">
                <a:tc>
                  <a:txBody>
                    <a:bodyPr wrap="square"/>
                    <a:lstStyle/>
                    <a:p>
                      <a:pPr>
                        <a:lnSpc>
                          <a:spcPct val="112000"/>
                        </a:lnSpc>
                      </a:pPr>
                      <a:r>
                        <a:rPr sz="1250" b="1">
                          <a:solidFill>
                            <a:srgbClr val="0F172A"/>
                          </a:solidFill>
                          <a:latin typeface="Segoe UI"/>
                        </a:rPr>
                        <a:t>HTML</a:t>
                      </a:r>
                    </a:p>
                  </a:txBody>
                  <a:tcPr marL="146304" marR="91440" marT="36576" marB="36576" anchor="ctr">
                    <a:solidFill>
                      <a:srgbClr val="F1F5F9"/>
                    </a:solidFill>
                  </a:tcPr>
                </a:tc>
                <a:tc>
                  <a:txBody>
                    <a:bodyPr wrap="square"/>
                    <a:lstStyle/>
                    <a:p>
                      <a:pPr>
                        <a:lnSpc>
                          <a:spcPct val="112000"/>
                        </a:lnSpc>
                      </a:pPr>
                      <a:r>
                        <a:rPr sz="1250" b="0">
                          <a:solidFill>
                            <a:srgbClr val="0F172A"/>
                          </a:solidFill>
                          <a:latin typeface="Segoe UI"/>
                        </a:rPr>
                        <a:t>Layout</a:t>
                      </a:r>
                    </a:p>
                  </a:txBody>
                  <a:tcPr marL="146304" marR="91440" marT="36576" marB="36576" anchor="ctr">
                    <a:solidFill>
                      <a:srgbClr val="F1F5F9"/>
                    </a:solidFill>
                  </a:tcPr>
                </a:tc>
                <a:tc>
                  <a:txBody>
                    <a:bodyPr wrap="square"/>
                    <a:lstStyle/>
                    <a:p>
                      <a:pPr>
                        <a:lnSpc>
                          <a:spcPct val="112000"/>
                        </a:lnSpc>
                      </a:pPr>
                      <a:r>
                        <a:rPr sz="1250" b="0">
                          <a:solidFill>
                            <a:srgbClr val="0F172A"/>
                          </a:solidFill>
                          <a:latin typeface="Segoe UI"/>
                        </a:rPr>
                        <a:t>Cloud layout model</a:t>
                      </a:r>
                    </a:p>
                  </a:txBody>
                  <a:tcPr marL="146304" marR="91440" marT="36576" marB="36576" anchor="ctr">
                    <a:solidFill>
                      <a:srgbClr val="F1F5F9"/>
                    </a:solidFill>
                  </a:tcPr>
                </a:tc>
                <a:tc>
                  <a:txBody>
                    <a:bodyPr wrap="square"/>
                    <a:lstStyle/>
                    <a:p>
                      <a:pPr>
                        <a:lnSpc>
                          <a:spcPct val="112000"/>
                        </a:lnSpc>
                      </a:pPr>
                      <a:r>
                        <a:rPr sz="1250" b="0">
                          <a:solidFill>
                            <a:srgbClr val="0F172A"/>
                          </a:solidFill>
                          <a:latin typeface="Segoe UI"/>
                        </a:rPr>
                        <a:t>Markdown</a:t>
                      </a:r>
                    </a:p>
                  </a:txBody>
                  <a:tcPr marL="146304" marR="91440" marT="36576" marB="36576" anchor="ctr">
                    <a:solidFill>
                      <a:srgbClr val="F1F5F9"/>
                    </a:solidFill>
                  </a:tcPr>
                </a:tc>
              </a:tr>
              <a:tr h="411480">
                <a:tc>
                  <a:txBody>
                    <a:bodyPr wrap="square"/>
                    <a:lstStyle/>
                    <a:p>
                      <a:pPr>
                        <a:lnSpc>
                          <a:spcPct val="112000"/>
                        </a:lnSpc>
                      </a:pPr>
                      <a:r>
                        <a:rPr sz="1250" b="1">
                          <a:solidFill>
                            <a:srgbClr val="0F172A"/>
                          </a:solidFill>
                          <a:latin typeface="Segoe UI"/>
                        </a:rPr>
                        <a:t>XLSX</a:t>
                      </a:r>
                    </a:p>
                  </a:txBody>
                  <a:tcPr marL="146304" marR="91440" marT="36576" marB="36576" anchor="ctr">
                    <a:solidFill>
                      <a:srgbClr val="FFFFFF"/>
                    </a:solidFill>
                  </a:tcPr>
                </a:tc>
                <a:tc>
                  <a:txBody>
                    <a:bodyPr wrap="square"/>
                    <a:lstStyle/>
                    <a:p>
                      <a:pPr>
                        <a:lnSpc>
                          <a:spcPct val="112000"/>
                        </a:lnSpc>
                      </a:pPr>
                      <a:r>
                        <a:rPr sz="1250" b="0">
                          <a:solidFill>
                            <a:srgbClr val="0F172A"/>
                          </a:solidFill>
                          <a:latin typeface="Segoe UI"/>
                        </a:rPr>
                        <a:t>Spreadsheet</a:t>
                      </a:r>
                    </a:p>
                  </a:txBody>
                  <a:tcPr marL="146304" marR="91440" marT="36576" marB="36576" anchor="ctr">
                    <a:solidFill>
                      <a:srgbClr val="FFFFFF"/>
                    </a:solidFill>
                  </a:tcPr>
                </a:tc>
                <a:tc>
                  <a:txBody>
                    <a:bodyPr wrap="square"/>
                    <a:lstStyle/>
                    <a:p>
                      <a:pPr>
                        <a:lnSpc>
                          <a:spcPct val="112000"/>
                        </a:lnSpc>
                      </a:pPr>
                      <a:r>
                        <a:rPr sz="1250" b="0">
                          <a:solidFill>
                            <a:srgbClr val="0F172A"/>
                          </a:solidFill>
                          <a:latin typeface="Segoe UI"/>
                        </a:rPr>
                        <a:t>OpenXML SDK, in-process</a:t>
                      </a:r>
                    </a:p>
                  </a:txBody>
                  <a:tcPr marL="146304" marR="91440" marT="36576" marB="36576" anchor="ctr">
                    <a:solidFill>
                      <a:srgbClr val="FFFFFF"/>
                    </a:solidFill>
                  </a:tcPr>
                </a:tc>
                <a:tc>
                  <a:txBody>
                    <a:bodyPr wrap="square"/>
                    <a:lstStyle/>
                    <a:p>
                      <a:pPr>
                        <a:lnSpc>
                          <a:spcPct val="112000"/>
                        </a:lnSpc>
                      </a:pPr>
                      <a:r>
                        <a:rPr sz="1250" b="0">
                          <a:solidFill>
                            <a:srgbClr val="0F172A"/>
                          </a:solidFill>
                          <a:latin typeface="Segoe UI"/>
                        </a:rPr>
                        <a:t>Typed rows + Markdown</a:t>
                      </a:r>
                    </a:p>
                  </a:txBody>
                  <a:tcPr marL="146304" marR="91440" marT="36576" marB="36576" anchor="ctr">
                    <a:solidFill>
                      <a:srgbClr val="FFFFFF"/>
                    </a:solidFill>
                  </a:tcPr>
                </a:tc>
              </a:tr>
              <a:tr h="411480">
                <a:tc>
                  <a:txBody>
                    <a:bodyPr wrap="square"/>
                    <a:lstStyle/>
                    <a:p>
                      <a:pPr>
                        <a:lnSpc>
                          <a:spcPct val="112000"/>
                        </a:lnSpc>
                      </a:pPr>
                      <a:r>
                        <a:rPr sz="1250" b="1">
                          <a:solidFill>
                            <a:srgbClr val="0F172A"/>
                          </a:solidFill>
                          <a:latin typeface="Segoe UI"/>
                        </a:rPr>
                        <a:t>JPG / PNG</a:t>
                      </a:r>
                    </a:p>
                  </a:txBody>
                  <a:tcPr marL="146304" marR="91440" marT="36576" marB="36576" anchor="ctr">
                    <a:solidFill>
                      <a:srgbClr val="F1F5F9"/>
                    </a:solidFill>
                  </a:tcPr>
                </a:tc>
                <a:tc>
                  <a:txBody>
                    <a:bodyPr wrap="square"/>
                    <a:lstStyle/>
                    <a:p>
                      <a:pPr>
                        <a:lnSpc>
                          <a:spcPct val="112000"/>
                        </a:lnSpc>
                      </a:pPr>
                      <a:r>
                        <a:rPr sz="1250" b="0">
                          <a:solidFill>
                            <a:srgbClr val="0F172A"/>
                          </a:solidFill>
                          <a:latin typeface="Segoe UI"/>
                        </a:rPr>
                        <a:t>Vision</a:t>
                      </a:r>
                    </a:p>
                  </a:txBody>
                  <a:tcPr marL="146304" marR="91440" marT="36576" marB="36576" anchor="ctr">
                    <a:solidFill>
                      <a:srgbClr val="F1F5F9"/>
                    </a:solidFill>
                  </a:tcPr>
                </a:tc>
                <a:tc>
                  <a:txBody>
                    <a:bodyPr wrap="square"/>
                    <a:lstStyle/>
                    <a:p>
                      <a:pPr>
                        <a:lnSpc>
                          <a:spcPct val="112000"/>
                        </a:lnSpc>
                      </a:pPr>
                      <a:r>
                        <a:rPr sz="1250" b="0">
                          <a:solidFill>
                            <a:srgbClr val="0F172A"/>
                          </a:solidFill>
                          <a:latin typeface="Segoe UI"/>
                        </a:rPr>
                        <a:t>Multimodal chat model</a:t>
                      </a:r>
                    </a:p>
                  </a:txBody>
                  <a:tcPr marL="146304" marR="91440" marT="36576" marB="36576" anchor="ctr">
                    <a:solidFill>
                      <a:srgbClr val="F1F5F9"/>
                    </a:solidFill>
                  </a:tcPr>
                </a:tc>
                <a:tc>
                  <a:txBody>
                    <a:bodyPr wrap="square"/>
                    <a:lstStyle/>
                    <a:p>
                      <a:pPr>
                        <a:lnSpc>
                          <a:spcPct val="112000"/>
                        </a:lnSpc>
                      </a:pPr>
                      <a:r>
                        <a:rPr sz="1250" b="0">
                          <a:solidFill>
                            <a:srgbClr val="0F172A"/>
                          </a:solidFill>
                          <a:latin typeface="Segoe UI"/>
                        </a:rPr>
                        <a:t>Factual description</a:t>
                      </a:r>
                    </a:p>
                  </a:txBody>
                  <a:tcPr marL="146304" marR="91440" marT="36576" marB="36576" anchor="ctr">
                    <a:solidFill>
                      <a:srgbClr val="F1F5F9"/>
                    </a:solidFill>
                  </a:tcPr>
                </a:tc>
              </a:tr>
            </a:tbl>
          </a:graphicData>
        </a:graphic>
      </p:graphicFrame>
      <p:sp>
        <p:nvSpPr>
          <p:cNvPr id="9" name="Rectangle 8"/>
          <p:cNvSpPr/>
          <p:nvPr/>
        </p:nvSpPr>
        <p:spPr>
          <a:xfrm>
            <a:off x="777240" y="5516714"/>
            <a:ext cx="10637215" cy="7498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97280" y="5672162"/>
            <a:ext cx="9997135" cy="548640"/>
          </a:xfrm>
          <a:prstGeom prst="rect">
            <a:avLst/>
          </a:prstGeom>
          <a:noFill/>
        </p:spPr>
        <p:txBody>
          <a:bodyPr wrap="square" lIns="0" rIns="0" tIns="0" bIns="0" anchor="t">
            <a:spAutoFit/>
          </a:bodyPr>
          <a:lstStyle/>
          <a:p>
            <a:pPr algn="l">
              <a:lnSpc>
                <a:spcPct val="130000"/>
              </a:lnSpc>
              <a:spcAft>
                <a:spcPts val="0"/>
              </a:spcAft>
            </a:pPr>
            <a:r>
              <a:rPr sz="1250" b="1" i="0">
                <a:solidFill>
                  <a:srgbClr val="0F172A"/>
                </a:solidFill>
                <a:latin typeface="Segoe UI"/>
              </a:rPr>
              <a:t>Note the asymmetry. </a:t>
            </a:r>
            <a:r>
              <a:rPr sz="1250" b="0" i="0">
                <a:solidFill>
                  <a:srgbClr val="64748B"/>
                </a:solidFill>
                <a:latin typeface="Segoe UI"/>
              </a:rPr>
              <a:t>Four of the six kinds share one engine, because a layout model already solves them all. Spreadsheets get their own because numeric fidelity is the whole point. Images get their own because there is nothing to extract — only something to observe.</a:t>
            </a:r>
          </a:p>
        </p:txBody>
      </p:sp>
      <p:sp>
        <p:nvSpPr>
          <p:cNvPr id="11" name="TextBox 10"/>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1D4ED8"/>
                </a:solidFill>
                <a:latin typeface="Segoe UI"/>
              </a:rPr>
              <a:t>ENGINE 1 OF 3</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PDF, DOCX, PPTX and HTML</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A cloud document-layout model — Azure AI Document Intelligence, prebuilt-layout — returning Markdown.</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415641"/>
            <a:ext cx="68580" cy="685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2352890"/>
            <a:ext cx="6153912"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Markdown comes from the model. </a:t>
            </a:r>
            <a:r>
              <a:rPr sz="1350" b="0" i="0">
                <a:solidFill>
                  <a:srgbClr val="64748B"/>
                </a:solidFill>
                <a:latin typeface="Segoe UI"/>
              </a:rPr>
              <a:t>Headings, lists and tables arrive as structure, not as coordinates the service must reassemble.</a:t>
            </a:r>
          </a:p>
        </p:txBody>
      </p:sp>
      <p:sp>
        <p:nvSpPr>
          <p:cNvPr id="10" name="Rectangle 9"/>
          <p:cNvSpPr/>
          <p:nvPr/>
        </p:nvSpPr>
        <p:spPr>
          <a:xfrm>
            <a:off x="777240" y="3167014"/>
            <a:ext cx="68580" cy="685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9848" y="3104263"/>
            <a:ext cx="6153912"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Scanned and digital PDFs share one path. </a:t>
            </a:r>
            <a:r>
              <a:rPr sz="1350" b="0" i="0">
                <a:solidFill>
                  <a:srgbClr val="64748B"/>
                </a:solidFill>
                <a:latin typeface="Segoe UI"/>
              </a:rPr>
              <a:t>OCR is part of the model, so there is no separate branch to choose between.</a:t>
            </a:r>
          </a:p>
        </p:txBody>
      </p:sp>
      <p:sp>
        <p:nvSpPr>
          <p:cNvPr id="12" name="Rectangle 11"/>
          <p:cNvSpPr/>
          <p:nvPr/>
        </p:nvSpPr>
        <p:spPr>
          <a:xfrm>
            <a:off x="777240" y="3918386"/>
            <a:ext cx="68580" cy="685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69848" y="3855636"/>
            <a:ext cx="6153912"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Four formats, no format-specific code. </a:t>
            </a:r>
            <a:r>
              <a:rPr sz="1350" b="0" i="0">
                <a:solidFill>
                  <a:srgbClr val="64748B"/>
                </a:solidFill>
                <a:latin typeface="Segoe UI"/>
              </a:rPr>
              <a:t>DOCX, PPTX and HTML use the same call as PDF. The engine is a thin wrapper.</a:t>
            </a:r>
          </a:p>
        </p:txBody>
      </p:sp>
      <p:sp>
        <p:nvSpPr>
          <p:cNvPr id="14" name="Rectangle 13"/>
          <p:cNvSpPr/>
          <p:nvPr/>
        </p:nvSpPr>
        <p:spPr>
          <a:xfrm>
            <a:off x="777240" y="4669759"/>
            <a:ext cx="68580" cy="685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69848" y="4607008"/>
            <a:ext cx="6153912"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Model warnings surface per file. </a:t>
            </a:r>
            <a:r>
              <a:rPr sz="1350" b="0" i="0">
                <a:solidFill>
                  <a:srgbClr val="64748B"/>
                </a:solidFill>
                <a:latin typeface="Segoe UI"/>
              </a:rPr>
              <a:t>Anything reported as degraded is passed through rather than quietly discarded.</a:t>
            </a:r>
          </a:p>
        </p:txBody>
      </p:sp>
      <p:sp>
        <p:nvSpPr>
          <p:cNvPr id="16" name="Rectangle 15"/>
          <p:cNvSpPr/>
          <p:nvPr/>
        </p:nvSpPr>
        <p:spPr>
          <a:xfrm>
            <a:off x="777240" y="5421132"/>
            <a:ext cx="68580" cy="685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69848" y="5358381"/>
            <a:ext cx="6153912"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A rejection maps to one file. </a:t>
            </a:r>
            <a:r>
              <a:rPr sz="1350" b="0" i="0">
                <a:solidFill>
                  <a:srgbClr val="64748B"/>
                </a:solidFill>
                <a:latin typeface="Segoe UI"/>
              </a:rPr>
              <a:t>An unreadable document becomes a corrupt error on that file alone.</a:t>
            </a:r>
          </a:p>
        </p:txBody>
      </p:sp>
      <p:sp>
        <p:nvSpPr>
          <p:cNvPr id="18" name="Rectangle 17"/>
          <p:cNvSpPr/>
          <p:nvPr/>
        </p:nvSpPr>
        <p:spPr>
          <a:xfrm>
            <a:off x="7635240" y="2307170"/>
            <a:ext cx="3776472" cy="2788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635240" y="2307170"/>
            <a:ext cx="3776472"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891272" y="2554058"/>
            <a:ext cx="3264408" cy="1234440"/>
          </a:xfrm>
          <a:prstGeom prst="rect">
            <a:avLst/>
          </a:prstGeom>
          <a:noFill/>
        </p:spPr>
        <p:txBody>
          <a:bodyPr wrap="square" lIns="0" rIns="0" tIns="0" bIns="0" anchor="t">
            <a:spAutoFit/>
          </a:bodyPr>
          <a:lstStyle/>
          <a:p>
            <a:pPr algn="l">
              <a:lnSpc>
                <a:spcPct val="110000"/>
              </a:lnSpc>
              <a:spcBef>
                <a:spcPts val="0"/>
              </a:spcBef>
              <a:spcAft>
                <a:spcPts val="900"/>
              </a:spcAft>
            </a:pPr>
            <a:r>
              <a:rPr sz="1350" b="1" i="0">
                <a:solidFill>
                  <a:srgbClr val="0F172A"/>
                </a:solidFill>
                <a:latin typeface="Segoe UI"/>
              </a:rPr>
              <a:t>Why buy rather than build</a:t>
            </a:r>
          </a:p>
          <a:p>
            <a:pPr algn="l">
              <a:lnSpc>
                <a:spcPct val="128000"/>
              </a:lnSpc>
              <a:spcBef>
                <a:spcPts val="0"/>
              </a:spcBef>
              <a:spcAft>
                <a:spcPts val="0"/>
              </a:spcAft>
            </a:pPr>
            <a:r>
              <a:rPr sz="1150" b="0" i="0">
                <a:solidFill>
                  <a:srgbClr val="64748B"/>
                </a:solidFill>
                <a:latin typeface="Segoe UI"/>
              </a:rPr>
              <a:t>Reading order across multi-column layouts, table structure recovery and OCR quality are each a multi-year problem. None of them are differentiating work for this service.</a:t>
            </a:r>
          </a:p>
        </p:txBody>
      </p:sp>
      <p:sp>
        <p:nvSpPr>
          <p:cNvPr id="21" name="Rectangle 20"/>
          <p:cNvSpPr/>
          <p:nvPr/>
        </p:nvSpPr>
        <p:spPr>
          <a:xfrm>
            <a:off x="7891272" y="3834218"/>
            <a:ext cx="3264408"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891272" y="3998810"/>
            <a:ext cx="3264408" cy="1005840"/>
          </a:xfrm>
          <a:prstGeom prst="rect">
            <a:avLst/>
          </a:prstGeom>
          <a:noFill/>
        </p:spPr>
        <p:txBody>
          <a:bodyPr wrap="square" lIns="0" rIns="0" tIns="0" bIns="0" anchor="t">
            <a:spAutoFit/>
          </a:bodyPr>
          <a:lstStyle/>
          <a:p>
            <a:pPr algn="l">
              <a:lnSpc>
                <a:spcPct val="110000"/>
              </a:lnSpc>
              <a:spcBef>
                <a:spcPts val="0"/>
              </a:spcBef>
              <a:spcAft>
                <a:spcPts val="700"/>
              </a:spcAft>
            </a:pPr>
            <a:r>
              <a:rPr sz="1250" b="1" i="0">
                <a:solidFill>
                  <a:srgbClr val="0F172A"/>
                </a:solidFill>
                <a:latin typeface="Segoe UI"/>
              </a:rPr>
              <a:t>The trade-off</a:t>
            </a:r>
          </a:p>
          <a:p>
            <a:pPr algn="l">
              <a:lnSpc>
                <a:spcPct val="128000"/>
              </a:lnSpc>
              <a:spcBef>
                <a:spcPts val="0"/>
              </a:spcBef>
              <a:spcAft>
                <a:spcPts val="0"/>
              </a:spcAft>
            </a:pPr>
            <a:r>
              <a:rPr sz="1150" b="0" i="0">
                <a:solidFill>
                  <a:srgbClr val="64748B"/>
                </a:solidFill>
                <a:latin typeface="Segoe UI"/>
              </a:rPr>
              <a:t>This path is a network call: it dominates latency and it is why the per-file timeout exists. It is also the only path with a per-page cost.</a:t>
            </a:r>
          </a:p>
        </p:txBody>
      </p:sp>
      <p:sp>
        <p:nvSpPr>
          <p:cNvPr id="23" name="TextBox 22"/>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0F766E"/>
                </a:solidFill>
                <a:latin typeface="Segoe UI"/>
              </a:rPr>
              <a:t>ENGINE 2 OF 3</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XLSX — the deliberate precision path</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Read in-process with the OpenXML SDK. No cloud call, no OCR, no rendering — the workbook XML is read directly.</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415641"/>
            <a:ext cx="68580" cy="685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2352890"/>
            <a:ext cx="6153912"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The stored value, never the displayed one. </a:t>
            </a:r>
            <a:r>
              <a:rPr sz="1350" b="0" i="0">
                <a:solidFill>
                  <a:srgbClr val="64748B"/>
                </a:solidFill>
                <a:latin typeface="Segoe UI"/>
              </a:rPr>
              <a:t>Values come from the file's own XML, so display formatting cannot corrupt them.</a:t>
            </a:r>
          </a:p>
        </p:txBody>
      </p:sp>
      <p:sp>
        <p:nvSpPr>
          <p:cNvPr id="10" name="Rectangle 9"/>
          <p:cNvSpPr/>
          <p:nvPr/>
        </p:nvSpPr>
        <p:spPr>
          <a:xfrm>
            <a:off x="777240" y="3167014"/>
            <a:ext cx="68580" cy="685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9848" y="3104263"/>
            <a:ext cx="6153912"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Types are preserved. </a:t>
            </a:r>
            <a:r>
              <a:rPr sz="1350" b="0" i="0">
                <a:solidFill>
                  <a:srgbClr val="64748B"/>
                </a:solidFill>
                <a:latin typeface="Segoe UI"/>
              </a:rPr>
              <a:t>Numbers become decimals, booleans stay booleans, date styles convert to ISO-8601, shared strings resolve to text.</a:t>
            </a:r>
          </a:p>
        </p:txBody>
      </p:sp>
      <p:sp>
        <p:nvSpPr>
          <p:cNvPr id="12" name="Rectangle 11"/>
          <p:cNvSpPr/>
          <p:nvPr/>
        </p:nvSpPr>
        <p:spPr>
          <a:xfrm>
            <a:off x="777240" y="3918386"/>
            <a:ext cx="68580" cy="685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69848" y="3855636"/>
            <a:ext cx="6153912"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Formulas return the cached result. </a:t>
            </a:r>
            <a:r>
              <a:rPr sz="1350" b="0" i="0">
                <a:solidFill>
                  <a:srgbClr val="64748B"/>
                </a:solidFill>
                <a:latin typeface="Segoe UI"/>
              </a:rPr>
              <a:t>The value last computed, not the formula text. A missing one degrades to null plus a warning.</a:t>
            </a:r>
          </a:p>
        </p:txBody>
      </p:sp>
      <p:sp>
        <p:nvSpPr>
          <p:cNvPr id="14" name="Rectangle 13"/>
          <p:cNvSpPr/>
          <p:nvPr/>
        </p:nvSpPr>
        <p:spPr>
          <a:xfrm>
            <a:off x="777240" y="4669759"/>
            <a:ext cx="68580" cy="685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69848" y="4607008"/>
            <a:ext cx="6153912"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Both shapes, every sheet. </a:t>
            </a:r>
            <a:r>
              <a:rPr sz="1350" b="0" i="0">
                <a:solidFill>
                  <a:srgbClr val="64748B"/>
                </a:solidFill>
                <a:latin typeface="Segoe UI"/>
              </a:rPr>
              <a:t>Typed rows for computation, plus a Markdown rendering of the same grid for reading.</a:t>
            </a:r>
          </a:p>
        </p:txBody>
      </p:sp>
      <p:sp>
        <p:nvSpPr>
          <p:cNvPr id="16" name="Rectangle 15"/>
          <p:cNvSpPr/>
          <p:nvPr/>
        </p:nvSpPr>
        <p:spPr>
          <a:xfrm>
            <a:off x="777240" y="5421132"/>
            <a:ext cx="68580" cy="685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69848" y="5358381"/>
            <a:ext cx="6153912"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Degrade, never fail. </a:t>
            </a:r>
            <a:r>
              <a:rPr sz="1350" b="0" i="0">
                <a:solidFill>
                  <a:srgbClr val="64748B"/>
                </a:solidFill>
                <a:latin typeface="Segoe UI"/>
              </a:rPr>
              <a:t>An unparseable cell falls back to raw text with a warning; the rest of the workbook survives.</a:t>
            </a:r>
          </a:p>
        </p:txBody>
      </p:sp>
      <p:sp>
        <p:nvSpPr>
          <p:cNvPr id="18" name="Rectangle 17"/>
          <p:cNvSpPr/>
          <p:nvPr/>
        </p:nvSpPr>
        <p:spPr>
          <a:xfrm>
            <a:off x="7635240" y="2307170"/>
            <a:ext cx="3776472" cy="3218688"/>
          </a:xfrm>
          <a:prstGeom prst="rect">
            <a:avLst/>
          </a:prstGeom>
          <a:solidFill>
            <a:srgbClr val="E1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891272" y="2517482"/>
            <a:ext cx="3264408" cy="2852928"/>
          </a:xfrm>
          <a:prstGeom prst="rect">
            <a:avLst/>
          </a:prstGeom>
          <a:noFill/>
        </p:spPr>
        <p:txBody>
          <a:bodyPr wrap="square" lIns="0" rIns="0" tIns="0" bIns="0" anchor="t">
            <a:spAutoFit/>
          </a:bodyPr>
          <a:lstStyle/>
          <a:p>
            <a:pPr algn="l">
              <a:lnSpc>
                <a:spcPct val="110000"/>
              </a:lnSpc>
              <a:spcBef>
                <a:spcPts val="0"/>
              </a:spcBef>
              <a:spcAft>
                <a:spcPts val="1000"/>
              </a:spcAft>
            </a:pPr>
            <a:r>
              <a:rPr sz="1350" b="1" i="0">
                <a:solidFill>
                  <a:srgbClr val="0F766E"/>
                </a:solidFill>
                <a:latin typeface="Segoe UI"/>
              </a:rPr>
              <a:t>Why this earns its own engine</a:t>
            </a:r>
          </a:p>
          <a:p>
            <a:pPr algn="l">
              <a:lnSpc>
                <a:spcPct val="130000"/>
              </a:lnSpc>
              <a:spcBef>
                <a:spcPts val="0"/>
              </a:spcBef>
              <a:spcAft>
                <a:spcPts val="1100"/>
              </a:spcAft>
            </a:pPr>
            <a:r>
              <a:rPr sz="1200" b="0" i="0">
                <a:solidFill>
                  <a:srgbClr val="0F172A"/>
                </a:solidFill>
                <a:latin typeface="Segoe UI"/>
              </a:rPr>
              <a:t>Every other path in the service produces text for a model to read. This one produces values for a model to compute with.</a:t>
            </a:r>
          </a:p>
          <a:p>
            <a:pPr algn="l">
              <a:lnSpc>
                <a:spcPct val="128000"/>
              </a:lnSpc>
              <a:spcBef>
                <a:spcPts val="0"/>
              </a:spcBef>
              <a:spcAft>
                <a:spcPts val="1100"/>
              </a:spcAft>
            </a:pPr>
            <a:r>
              <a:rPr sz="1150" b="0" i="0">
                <a:solidFill>
                  <a:srgbClr val="64748B"/>
                </a:solidFill>
                <a:latin typeface="Segoe UI"/>
              </a:rPr>
              <a:t>Send a workbook through a layout model instead and the numbers arrive as whatever the author's locale rendered them as. The agent then has to guess — and a wrong guess produces a confident, wrong total.</a:t>
            </a:r>
          </a:p>
          <a:p>
            <a:pPr algn="l">
              <a:lnSpc>
                <a:spcPct val="128000"/>
              </a:lnSpc>
              <a:spcBef>
                <a:spcPts val="0"/>
              </a:spcBef>
              <a:spcAft>
                <a:spcPts val="0"/>
              </a:spcAft>
            </a:pPr>
            <a:r>
              <a:rPr sz="1150" b="0" i="1">
                <a:solidFill>
                  <a:srgbClr val="64748B"/>
                </a:solidFill>
                <a:latin typeface="Segoe UI"/>
              </a:rPr>
              <a:t>It is also the fastest path in the service — pure in-process compute, no network round-trip.</a:t>
            </a:r>
          </a:p>
        </p:txBody>
      </p:sp>
      <p:sp>
        <p:nvSpPr>
          <p:cNvPr id="20" name="TextBox 19"/>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6D28D9"/>
                </a:solidFill>
                <a:latin typeface="Segoe UI"/>
              </a:rPr>
              <a:t>ENGINE 3 OF 3</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JPG and PNG — observation, not classification</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A single call to a multimodal chat model, with the image passed inline and the system prompt pinned in source.</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415641"/>
            <a:ext cx="68580" cy="685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2352890"/>
            <a:ext cx="5971031"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One call, image inline. </a:t>
            </a:r>
            <a:r>
              <a:rPr sz="1350" b="0" i="0">
                <a:solidFill>
                  <a:srgbClr val="64748B"/>
                </a:solidFill>
                <a:latin typeface="Segoe UI"/>
              </a:rPr>
              <a:t>Sent as a data URI content part alongside the prompt — no upload step, no intermediate storage.</a:t>
            </a:r>
          </a:p>
        </p:txBody>
      </p:sp>
      <p:sp>
        <p:nvSpPr>
          <p:cNvPr id="10" name="Rectangle 9"/>
          <p:cNvSpPr/>
          <p:nvPr/>
        </p:nvSpPr>
        <p:spPr>
          <a:xfrm>
            <a:off x="777240" y="3205114"/>
            <a:ext cx="68580" cy="685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69848" y="3142363"/>
            <a:ext cx="5971031"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The prompt is a code constant. </a:t>
            </a:r>
            <a:r>
              <a:rPr sz="1350" b="0" i="0">
                <a:solidFill>
                  <a:srgbClr val="64748B"/>
                </a:solidFill>
                <a:latin typeface="Segoe UI"/>
              </a:rPr>
              <a:t>It cannot drift between environments, and a snapshot test makes any change to it visible.</a:t>
            </a:r>
          </a:p>
        </p:txBody>
      </p:sp>
      <p:sp>
        <p:nvSpPr>
          <p:cNvPr id="12" name="Rectangle 11"/>
          <p:cNvSpPr/>
          <p:nvPr/>
        </p:nvSpPr>
        <p:spPr>
          <a:xfrm>
            <a:off x="777240" y="3994586"/>
            <a:ext cx="68580" cy="685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69848" y="3931836"/>
            <a:ext cx="5971031"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Only what is directly visible. </a:t>
            </a:r>
            <a:r>
              <a:rPr sz="1350" b="0" i="0">
                <a:solidFill>
                  <a:srgbClr val="64748B"/>
                </a:solidFill>
                <a:latin typeface="Segoe UI"/>
              </a:rPr>
              <a:t>Objects, text, markings, labels, materials, colours — transcribed exactly as printed.</a:t>
            </a:r>
          </a:p>
        </p:txBody>
      </p:sp>
      <p:sp>
        <p:nvSpPr>
          <p:cNvPr id="14" name="Rectangle 13"/>
          <p:cNvSpPr/>
          <p:nvPr/>
        </p:nvSpPr>
        <p:spPr>
          <a:xfrm>
            <a:off x="777240" y="4784059"/>
            <a:ext cx="68580" cy="685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69848" y="4721308"/>
            <a:ext cx="5971031" cy="608624"/>
          </a:xfrm>
          <a:prstGeom prst="rect">
            <a:avLst/>
          </a:prstGeom>
          <a:noFill/>
        </p:spPr>
        <p:txBody>
          <a:bodyPr wrap="square" lIns="0" rIns="0" tIns="0" bIns="0" anchor="t">
            <a:spAutoFit/>
          </a:bodyPr>
          <a:lstStyle/>
          <a:p>
            <a:pPr algn="l">
              <a:lnSpc>
                <a:spcPct val="128000"/>
              </a:lnSpc>
              <a:spcAft>
                <a:spcPts val="0"/>
              </a:spcAft>
            </a:pPr>
            <a:r>
              <a:rPr sz="1350" b="1" i="0">
                <a:solidFill>
                  <a:srgbClr val="0F172A"/>
                </a:solidFill>
                <a:latin typeface="Segoe UI"/>
              </a:rPr>
              <a:t>Explicitly forbidden from judging. </a:t>
            </a:r>
            <a:r>
              <a:rPr sz="1350" b="0" i="0">
                <a:solidFill>
                  <a:srgbClr val="64748B"/>
                </a:solidFill>
                <a:latin typeface="Segoe UI"/>
              </a:rPr>
              <a:t>No categories, no inferred purpose, nothing that is not visible in the frame.</a:t>
            </a:r>
          </a:p>
        </p:txBody>
      </p:sp>
      <p:sp>
        <p:nvSpPr>
          <p:cNvPr id="16" name="Rectangle 15"/>
          <p:cNvSpPr/>
          <p:nvPr/>
        </p:nvSpPr>
        <p:spPr>
          <a:xfrm>
            <a:off x="7452360" y="2307170"/>
            <a:ext cx="3959352" cy="1700784"/>
          </a:xfrm>
          <a:prstGeom prst="rect">
            <a:avLst/>
          </a:prstGeom>
          <a:solidFill>
            <a:srgbClr val="EFE9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708392" y="2490050"/>
            <a:ext cx="3474720" cy="1463040"/>
          </a:xfrm>
          <a:prstGeom prst="rect">
            <a:avLst/>
          </a:prstGeom>
          <a:noFill/>
        </p:spPr>
        <p:txBody>
          <a:bodyPr wrap="square" lIns="0" rIns="0" tIns="0" bIns="0" anchor="t">
            <a:spAutoFit/>
          </a:bodyPr>
          <a:lstStyle/>
          <a:p>
            <a:pPr algn="l">
              <a:lnSpc>
                <a:spcPct val="110000"/>
              </a:lnSpc>
              <a:spcBef>
                <a:spcPts val="0"/>
              </a:spcBef>
              <a:spcAft>
                <a:spcPts val="900"/>
              </a:spcAft>
            </a:pPr>
            <a:r>
              <a:rPr sz="1350" b="1" i="0">
                <a:solidFill>
                  <a:srgbClr val="6D28D9"/>
                </a:solidFill>
                <a:latin typeface="Segoe UI"/>
              </a:rPr>
              <a:t>The result is evidence, not a verdict</a:t>
            </a:r>
          </a:p>
          <a:p>
            <a:pPr algn="l">
              <a:lnSpc>
                <a:spcPct val="130000"/>
              </a:lnSpc>
              <a:spcBef>
                <a:spcPts val="0"/>
              </a:spcBef>
              <a:spcAft>
                <a:spcPts val="0"/>
              </a:spcAft>
            </a:pPr>
            <a:r>
              <a:rPr sz="1150" b="0" i="0">
                <a:solidFill>
                  <a:srgbClr val="64748B"/>
                </a:solidFill>
                <a:latin typeface="Segoe UI"/>
              </a:rPr>
              <a:t>The agent receives a description of what is in the photograph and draws its own conclusion, with the rest of its context available. The service has no context, so it is the wrong place to conclude anything.</a:t>
            </a:r>
          </a:p>
        </p:txBody>
      </p:sp>
      <p:sp>
        <p:nvSpPr>
          <p:cNvPr id="18" name="Rectangle 17"/>
          <p:cNvSpPr/>
          <p:nvPr/>
        </p:nvSpPr>
        <p:spPr>
          <a:xfrm>
            <a:off x="7452360" y="4227410"/>
            <a:ext cx="3959352" cy="13350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452360" y="4227410"/>
            <a:ext cx="45720" cy="133502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08392" y="4401146"/>
            <a:ext cx="3474720" cy="1097280"/>
          </a:xfrm>
          <a:prstGeom prst="rect">
            <a:avLst/>
          </a:prstGeom>
          <a:noFill/>
        </p:spPr>
        <p:txBody>
          <a:bodyPr wrap="square" lIns="0" rIns="0" tIns="0" bIns="0" anchor="t">
            <a:spAutoFit/>
          </a:bodyPr>
          <a:lstStyle/>
          <a:p>
            <a:pPr algn="l">
              <a:lnSpc>
                <a:spcPct val="110000"/>
              </a:lnSpc>
              <a:spcBef>
                <a:spcPts val="0"/>
              </a:spcBef>
              <a:spcAft>
                <a:spcPts val="600"/>
              </a:spcAft>
            </a:pPr>
            <a:r>
              <a:rPr sz="1250" b="1" i="0">
                <a:solidFill>
                  <a:srgbClr val="0F172A"/>
                </a:solidFill>
                <a:latin typeface="Segoe UI"/>
              </a:rPr>
              <a:t>Verified against a real model</a:t>
            </a:r>
          </a:p>
          <a:p>
            <a:pPr algn="l">
              <a:lnSpc>
                <a:spcPct val="128000"/>
              </a:lnSpc>
              <a:spcBef>
                <a:spcPts val="0"/>
              </a:spcBef>
              <a:spcAft>
                <a:spcPts val="0"/>
              </a:spcAft>
            </a:pPr>
            <a:r>
              <a:rPr sz="1150" b="0" i="0">
                <a:solidFill>
                  <a:srgbClr val="64748B"/>
                </a:solidFill>
                <a:latin typeface="Segoe UI"/>
              </a:rPr>
              <a:t>An environment-gated smoke suite runs a fixture photograph through the live model and asserts the description picks up the specific markings printed on it.</a:t>
            </a:r>
          </a:p>
        </p:txBody>
      </p:sp>
      <p:sp>
        <p:nvSpPr>
          <p:cNvPr id="21" name="TextBox 20"/>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D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777240" y="566928"/>
            <a:ext cx="50292" cy="2743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78408" y="548640"/>
            <a:ext cx="10436047" cy="320040"/>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0F766E"/>
                </a:solidFill>
                <a:latin typeface="Segoe UI"/>
              </a:rPr>
              <a:t>RUNNING IT</a:t>
            </a:r>
          </a:p>
        </p:txBody>
      </p:sp>
      <p:sp>
        <p:nvSpPr>
          <p:cNvPr id="5" name="TextBox 4"/>
          <p:cNvSpPr txBox="1"/>
          <p:nvPr/>
        </p:nvSpPr>
        <p:spPr>
          <a:xfrm>
            <a:off x="777240" y="932688"/>
            <a:ext cx="10637215" cy="579500"/>
          </a:xfrm>
          <a:prstGeom prst="rect">
            <a:avLst/>
          </a:prstGeom>
          <a:noFill/>
        </p:spPr>
        <p:txBody>
          <a:bodyPr wrap="square" lIns="0" rIns="0" tIns="0" bIns="0" anchor="t">
            <a:spAutoFit/>
          </a:bodyPr>
          <a:lstStyle/>
          <a:p>
            <a:pPr algn="l">
              <a:lnSpc>
                <a:spcPct val="105000"/>
              </a:lnSpc>
              <a:spcBef>
                <a:spcPts val="0"/>
              </a:spcBef>
              <a:spcAft>
                <a:spcPts val="0"/>
              </a:spcAft>
            </a:pPr>
            <a:r>
              <a:rPr sz="3000" b="1" i="0">
                <a:solidFill>
                  <a:srgbClr val="0F172A"/>
                </a:solidFill>
                <a:latin typeface="Segoe UI"/>
              </a:rPr>
              <a:t>Built to be operated, not just demonstrated</a:t>
            </a:r>
          </a:p>
        </p:txBody>
      </p:sp>
      <p:sp>
        <p:nvSpPr>
          <p:cNvPr id="6" name="TextBox 5"/>
          <p:cNvSpPr txBox="1"/>
          <p:nvPr/>
        </p:nvSpPr>
        <p:spPr>
          <a:xfrm>
            <a:off x="777240" y="1640205"/>
            <a:ext cx="10088575" cy="383501"/>
          </a:xfrm>
          <a:prstGeom prst="rect">
            <a:avLst/>
          </a:prstGeom>
          <a:noFill/>
        </p:spPr>
        <p:txBody>
          <a:bodyPr wrap="square" lIns="0" rIns="0" tIns="0" bIns="0" anchor="t">
            <a:spAutoFit/>
          </a:bodyPr>
          <a:lstStyle/>
          <a:p>
            <a:pPr algn="l">
              <a:lnSpc>
                <a:spcPct val="130000"/>
              </a:lnSpc>
              <a:spcBef>
                <a:spcPts val="0"/>
              </a:spcBef>
              <a:spcAft>
                <a:spcPts val="0"/>
              </a:spcAft>
            </a:pPr>
            <a:r>
              <a:rPr sz="1450" b="0" i="0">
                <a:solidFill>
                  <a:srgbClr val="64748B"/>
                </a:solidFill>
                <a:latin typeface="Segoe UI"/>
              </a:rPr>
              <a:t>The parts that decide whether it survives contact with production.</a:t>
            </a:r>
          </a:p>
        </p:txBody>
      </p:sp>
      <p:sp>
        <p:nvSpPr>
          <p:cNvPr id="7" name="Rectangle 6"/>
          <p:cNvSpPr/>
          <p:nvPr/>
        </p:nvSpPr>
        <p:spPr>
          <a:xfrm>
            <a:off x="777240" y="2133434"/>
            <a:ext cx="10637215"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2352890"/>
            <a:ext cx="3387242"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77240" y="2352890"/>
            <a:ext cx="45720" cy="16459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51560" y="2572346"/>
            <a:ext cx="2884322" cy="1298448"/>
          </a:xfrm>
          <a:prstGeom prst="rect">
            <a:avLst/>
          </a:prstGeom>
          <a:noFill/>
        </p:spPr>
        <p:txBody>
          <a:bodyPr wrap="square" lIns="0" rIns="0" tIns="0" bIns="0" anchor="t">
            <a:spAutoFit/>
          </a:bodyPr>
          <a:lstStyle/>
          <a:p>
            <a:pPr algn="l">
              <a:lnSpc>
                <a:spcPct val="115000"/>
              </a:lnSpc>
              <a:spcBef>
                <a:spcPts val="0"/>
              </a:spcBef>
              <a:spcAft>
                <a:spcPts val="500"/>
              </a:spcAft>
            </a:pPr>
            <a:r>
              <a:rPr sz="1350" b="1" i="0">
                <a:solidFill>
                  <a:srgbClr val="0F172A"/>
                </a:solidFill>
                <a:latin typeface="Segoe UI"/>
              </a:rPr>
              <a:t>Observability</a:t>
            </a:r>
          </a:p>
          <a:p>
            <a:pPr algn="l">
              <a:lnSpc>
                <a:spcPct val="126000"/>
              </a:lnSpc>
              <a:spcBef>
                <a:spcPts val="0"/>
              </a:spcBef>
              <a:spcAft>
                <a:spcPts val="0"/>
              </a:spcAft>
            </a:pPr>
            <a:r>
              <a:rPr sz="1150" b="0" i="0">
                <a:solidFill>
                  <a:srgbClr val="64748B"/>
                </a:solidFill>
                <a:latin typeface="Segoe UI"/>
              </a:rPr>
              <a:t>Tracing per request and per file, plus metrics for pages, files, bytes, per-file duration as a histogram, rejected requests, duplicates and shed load.</a:t>
            </a:r>
          </a:p>
        </p:txBody>
      </p:sp>
      <p:sp>
        <p:nvSpPr>
          <p:cNvPr id="11" name="Rectangle 10"/>
          <p:cNvSpPr/>
          <p:nvPr/>
        </p:nvSpPr>
        <p:spPr>
          <a:xfrm>
            <a:off x="4402226" y="2352890"/>
            <a:ext cx="3387242"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402226" y="2352890"/>
            <a:ext cx="45720" cy="16459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676546" y="2572346"/>
            <a:ext cx="2884322" cy="1298448"/>
          </a:xfrm>
          <a:prstGeom prst="rect">
            <a:avLst/>
          </a:prstGeom>
          <a:noFill/>
        </p:spPr>
        <p:txBody>
          <a:bodyPr wrap="square" lIns="0" rIns="0" tIns="0" bIns="0" anchor="t">
            <a:spAutoFit/>
          </a:bodyPr>
          <a:lstStyle/>
          <a:p>
            <a:pPr algn="l">
              <a:lnSpc>
                <a:spcPct val="115000"/>
              </a:lnSpc>
              <a:spcBef>
                <a:spcPts val="0"/>
              </a:spcBef>
              <a:spcAft>
                <a:spcPts val="500"/>
              </a:spcAft>
            </a:pPr>
            <a:r>
              <a:rPr sz="1350" b="1" i="0">
                <a:solidFill>
                  <a:srgbClr val="0F172A"/>
                </a:solidFill>
                <a:latin typeface="Segoe UI"/>
              </a:rPr>
              <a:t>Structured logging</a:t>
            </a:r>
          </a:p>
          <a:p>
            <a:pPr algn="l">
              <a:lnSpc>
                <a:spcPct val="126000"/>
              </a:lnSpc>
              <a:spcBef>
                <a:spcPts val="0"/>
              </a:spcBef>
              <a:spcAft>
                <a:spcPts val="0"/>
              </a:spcAft>
            </a:pPr>
            <a:r>
              <a:rPr sz="1150" b="0" i="0">
                <a:solidFill>
                  <a:srgbClr val="64748B"/>
                </a:solidFill>
                <a:latin typeface="Segoe UI"/>
              </a:rPr>
              <a:t>One line per file with kind, size, outcome and duration — and a redaction rule keeping document content out, verified by test.</a:t>
            </a:r>
          </a:p>
        </p:txBody>
      </p:sp>
      <p:sp>
        <p:nvSpPr>
          <p:cNvPr id="14" name="Rectangle 13"/>
          <p:cNvSpPr/>
          <p:nvPr/>
        </p:nvSpPr>
        <p:spPr>
          <a:xfrm>
            <a:off x="8027212" y="2352890"/>
            <a:ext cx="3387242"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027212" y="2352890"/>
            <a:ext cx="45720" cy="16459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301532" y="2572346"/>
            <a:ext cx="2884322" cy="1298448"/>
          </a:xfrm>
          <a:prstGeom prst="rect">
            <a:avLst/>
          </a:prstGeom>
          <a:noFill/>
        </p:spPr>
        <p:txBody>
          <a:bodyPr wrap="square" lIns="0" rIns="0" tIns="0" bIns="0" anchor="t">
            <a:spAutoFit/>
          </a:bodyPr>
          <a:lstStyle/>
          <a:p>
            <a:pPr algn="l">
              <a:lnSpc>
                <a:spcPct val="115000"/>
              </a:lnSpc>
              <a:spcBef>
                <a:spcPts val="0"/>
              </a:spcBef>
              <a:spcAft>
                <a:spcPts val="500"/>
              </a:spcAft>
            </a:pPr>
            <a:r>
              <a:rPr sz="1350" b="1" i="0">
                <a:solidFill>
                  <a:srgbClr val="0F172A"/>
                </a:solidFill>
                <a:latin typeface="Segoe UI"/>
              </a:rPr>
              <a:t>Admission control</a:t>
            </a:r>
          </a:p>
          <a:p>
            <a:pPr algn="l">
              <a:lnSpc>
                <a:spcPct val="126000"/>
              </a:lnSpc>
              <a:spcBef>
                <a:spcPts val="0"/>
              </a:spcBef>
              <a:spcAft>
                <a:spcPts val="0"/>
              </a:spcAft>
            </a:pPr>
            <a:r>
              <a:rPr sz="1150" b="0" i="0">
                <a:solidFill>
                  <a:srgbClr val="64748B"/>
                </a:solidFill>
                <a:latin typeface="Segoe UI"/>
              </a:rPr>
              <a:t>An in-flight byte budget with queueing, shedding well-formed requests under sustained pressure rather than degrading every request at once.</a:t>
            </a:r>
          </a:p>
        </p:txBody>
      </p:sp>
      <p:sp>
        <p:nvSpPr>
          <p:cNvPr id="17" name="Rectangle 16"/>
          <p:cNvSpPr/>
          <p:nvPr/>
        </p:nvSpPr>
        <p:spPr>
          <a:xfrm>
            <a:off x="777240" y="4218266"/>
            <a:ext cx="3387242"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777240" y="4218266"/>
            <a:ext cx="45720" cy="16459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51560" y="4437722"/>
            <a:ext cx="2884322" cy="1298448"/>
          </a:xfrm>
          <a:prstGeom prst="rect">
            <a:avLst/>
          </a:prstGeom>
          <a:noFill/>
        </p:spPr>
        <p:txBody>
          <a:bodyPr wrap="square" lIns="0" rIns="0" tIns="0" bIns="0" anchor="t">
            <a:spAutoFit/>
          </a:bodyPr>
          <a:lstStyle/>
          <a:p>
            <a:pPr algn="l">
              <a:lnSpc>
                <a:spcPct val="115000"/>
              </a:lnSpc>
              <a:spcBef>
                <a:spcPts val="0"/>
              </a:spcBef>
              <a:spcAft>
                <a:spcPts val="500"/>
              </a:spcAft>
            </a:pPr>
            <a:r>
              <a:rPr sz="1350" b="1" i="0">
                <a:solidFill>
                  <a:srgbClr val="0F172A"/>
                </a:solidFill>
                <a:latin typeface="Segoe UI"/>
              </a:rPr>
              <a:t>Health and startup probes</a:t>
            </a:r>
          </a:p>
          <a:p>
            <a:pPr algn="l">
              <a:lnSpc>
                <a:spcPct val="126000"/>
              </a:lnSpc>
              <a:spcBef>
                <a:spcPts val="0"/>
              </a:spcBef>
              <a:spcAft>
                <a:spcPts val="0"/>
              </a:spcAft>
            </a:pPr>
            <a:r>
              <a:rPr sz="1150" b="0" i="0">
                <a:solidFill>
                  <a:srgbClr val="64748B"/>
                </a:solidFill>
                <a:latin typeface="Segoe UI"/>
              </a:rPr>
              <a:t>Liveness and readiness endpoints, plus startup connectivity checks against each dependency so a misconfiguration surfaces at boot.</a:t>
            </a:r>
          </a:p>
        </p:txBody>
      </p:sp>
      <p:sp>
        <p:nvSpPr>
          <p:cNvPr id="20" name="Rectangle 19"/>
          <p:cNvSpPr/>
          <p:nvPr/>
        </p:nvSpPr>
        <p:spPr>
          <a:xfrm>
            <a:off x="4402226" y="4218266"/>
            <a:ext cx="3387242"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402226" y="4218266"/>
            <a:ext cx="45720" cy="16459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676546" y="4437722"/>
            <a:ext cx="2884322" cy="1298448"/>
          </a:xfrm>
          <a:prstGeom prst="rect">
            <a:avLst/>
          </a:prstGeom>
          <a:noFill/>
        </p:spPr>
        <p:txBody>
          <a:bodyPr wrap="square" lIns="0" rIns="0" tIns="0" bIns="0" anchor="t">
            <a:spAutoFit/>
          </a:bodyPr>
          <a:lstStyle/>
          <a:p>
            <a:pPr algn="l">
              <a:lnSpc>
                <a:spcPct val="115000"/>
              </a:lnSpc>
              <a:spcBef>
                <a:spcPts val="0"/>
              </a:spcBef>
              <a:spcAft>
                <a:spcPts val="500"/>
              </a:spcAft>
            </a:pPr>
            <a:r>
              <a:rPr sz="1350" b="1" i="0">
                <a:solidFill>
                  <a:srgbClr val="0F172A"/>
                </a:solidFill>
                <a:latin typeface="Segoe UI"/>
              </a:rPr>
              <a:t>Containerised delivery</a:t>
            </a:r>
          </a:p>
          <a:p>
            <a:pPr algn="l">
              <a:lnSpc>
                <a:spcPct val="126000"/>
              </a:lnSpc>
              <a:spcBef>
                <a:spcPts val="0"/>
              </a:spcBef>
              <a:spcAft>
                <a:spcPts val="0"/>
              </a:spcAft>
            </a:pPr>
            <a:r>
              <a:rPr sz="1150" b="0" i="0">
                <a:solidFill>
                  <a:srgbClr val="64748B"/>
                </a:solidFill>
                <a:latin typeface="Segoe UI"/>
              </a:rPr>
              <a:t>A minimal hardened base image, horizontal autoscaling, a read-only root filesystem, and no secrets in source or config.</a:t>
            </a:r>
          </a:p>
        </p:txBody>
      </p:sp>
      <p:sp>
        <p:nvSpPr>
          <p:cNvPr id="23" name="Rectangle 22"/>
          <p:cNvSpPr/>
          <p:nvPr/>
        </p:nvSpPr>
        <p:spPr>
          <a:xfrm>
            <a:off x="8027212" y="4218266"/>
            <a:ext cx="3387242"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027212" y="4218266"/>
            <a:ext cx="45720" cy="16459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01532" y="4437722"/>
            <a:ext cx="2884322" cy="1298448"/>
          </a:xfrm>
          <a:prstGeom prst="rect">
            <a:avLst/>
          </a:prstGeom>
          <a:noFill/>
        </p:spPr>
        <p:txBody>
          <a:bodyPr wrap="square" lIns="0" rIns="0" tIns="0" bIns="0" anchor="t">
            <a:spAutoFit/>
          </a:bodyPr>
          <a:lstStyle/>
          <a:p>
            <a:pPr algn="l">
              <a:lnSpc>
                <a:spcPct val="115000"/>
              </a:lnSpc>
              <a:spcBef>
                <a:spcPts val="0"/>
              </a:spcBef>
              <a:spcAft>
                <a:spcPts val="500"/>
              </a:spcAft>
            </a:pPr>
            <a:r>
              <a:rPr sz="1350" b="1" i="0">
                <a:solidFill>
                  <a:srgbClr val="0F172A"/>
                </a:solidFill>
                <a:latin typeface="Segoe UI"/>
              </a:rPr>
              <a:t>Credential-free at runtime</a:t>
            </a:r>
          </a:p>
          <a:p>
            <a:pPr algn="l">
              <a:lnSpc>
                <a:spcPct val="126000"/>
              </a:lnSpc>
              <a:spcBef>
                <a:spcPts val="0"/>
              </a:spcBef>
              <a:spcAft>
                <a:spcPts val="0"/>
              </a:spcAft>
            </a:pPr>
            <a:r>
              <a:rPr sz="1150" b="0" i="0">
                <a:solidFill>
                  <a:srgbClr val="64748B"/>
                </a:solidFill>
                <a:latin typeface="Segoe UI"/>
              </a:rPr>
              <a:t>Workload identity in the cluster, falling back to key-based auth only where identity is unavailable.</a:t>
            </a:r>
          </a:p>
        </p:txBody>
      </p:sp>
      <p:sp>
        <p:nvSpPr>
          <p:cNvPr id="26" name="TextBox 25"/>
          <p:cNvSpPr txBox="1"/>
          <p:nvPr/>
        </p:nvSpPr>
        <p:spPr>
          <a:xfrm>
            <a:off x="10317175" y="6327648"/>
            <a:ext cx="1097280" cy="274320"/>
          </a:xfrm>
          <a:prstGeom prst="rect">
            <a:avLst/>
          </a:prstGeom>
          <a:noFill/>
        </p:spPr>
        <p:txBody>
          <a:bodyPr wrap="square" lIns="0" rIns="0" tIns="0" bIns="0" anchor="t">
            <a:spAutoFit/>
          </a:bodyPr>
          <a:lstStyle/>
          <a:p>
            <a:pPr algn="r">
              <a:lnSpc>
                <a:spcPct val="100000"/>
              </a:lnSpc>
              <a:spcBef>
                <a:spcPts val="0"/>
              </a:spcBef>
              <a:spcAft>
                <a:spcPts val="0"/>
              </a:spcAft>
            </a:pPr>
            <a:r>
              <a:rPr sz="1000" b="0" i="0">
                <a:solidFill>
                  <a:srgbClr val="94A3B8"/>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74320" cy="68580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34440" y="804672"/>
            <a:ext cx="8229600" cy="36576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1D4ED8"/>
                </a:solidFill>
                <a:latin typeface="Segoe UI"/>
              </a:rPr>
              <a:t>IN SUMMARY</a:t>
            </a:r>
          </a:p>
        </p:txBody>
      </p:sp>
      <p:sp>
        <p:nvSpPr>
          <p:cNvPr id="5" name="TextBox 4"/>
          <p:cNvSpPr txBox="1"/>
          <p:nvPr/>
        </p:nvSpPr>
        <p:spPr>
          <a:xfrm>
            <a:off x="1234440" y="1188720"/>
            <a:ext cx="8229600" cy="640080"/>
          </a:xfrm>
          <a:prstGeom prst="rect">
            <a:avLst/>
          </a:prstGeom>
          <a:noFill/>
        </p:spPr>
        <p:txBody>
          <a:bodyPr wrap="square" lIns="0" rIns="0" tIns="0" bIns="0" anchor="t">
            <a:spAutoFit/>
          </a:bodyPr>
          <a:lstStyle/>
          <a:p>
            <a:pPr algn="l">
              <a:lnSpc>
                <a:spcPct val="105000"/>
              </a:lnSpc>
              <a:spcBef>
                <a:spcPts val="0"/>
              </a:spcBef>
              <a:spcAft>
                <a:spcPts val="0"/>
              </a:spcAft>
            </a:pPr>
            <a:r>
              <a:rPr sz="3400" b="1" i="0">
                <a:solidFill>
                  <a:srgbClr val="FFFFFF"/>
                </a:solidFill>
                <a:latin typeface="Segoe UI"/>
              </a:rPr>
              <a:t>Five things worth keeping</a:t>
            </a:r>
          </a:p>
        </p:txBody>
      </p:sp>
      <p:sp>
        <p:nvSpPr>
          <p:cNvPr id="6" name="Rounded Rectangle 5"/>
          <p:cNvSpPr/>
          <p:nvPr/>
        </p:nvSpPr>
        <p:spPr>
          <a:xfrm>
            <a:off x="1234440" y="2258568"/>
            <a:ext cx="274320" cy="274320"/>
          </a:xfrm>
          <a:prstGeom prst="roundRect">
            <a:avLst>
              <a:gd name="adj" fmla="val 3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234440" y="2290572"/>
            <a:ext cx="2743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1</a:t>
            </a:r>
          </a:p>
        </p:txBody>
      </p:sp>
      <p:sp>
        <p:nvSpPr>
          <p:cNvPr id="8" name="TextBox 7"/>
          <p:cNvSpPr txBox="1"/>
          <p:nvPr/>
        </p:nvSpPr>
        <p:spPr>
          <a:xfrm>
            <a:off x="1755648" y="2240280"/>
            <a:ext cx="9144000"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1" i="0">
                <a:solidFill>
                  <a:srgbClr val="FFFFFF"/>
                </a:solidFill>
                <a:latin typeface="Segoe UI"/>
              </a:rPr>
              <a:t>Agents need ingestion, not a better model</a:t>
            </a:r>
          </a:p>
          <a:p>
            <a:pPr algn="l">
              <a:lnSpc>
                <a:spcPct val="125000"/>
              </a:lnSpc>
              <a:spcBef>
                <a:spcPts val="0"/>
              </a:spcBef>
              <a:spcAft>
                <a:spcPts val="0"/>
              </a:spcAft>
            </a:pPr>
            <a:r>
              <a:rPr sz="1200" b="0" i="0">
                <a:solidFill>
                  <a:srgbClr val="94A3B8"/>
                </a:solidFill>
                <a:latin typeface="Segoe UI"/>
              </a:rPr>
              <a:t>Frontier models can already reason about a datasheet. They just cannot open one.</a:t>
            </a:r>
          </a:p>
        </p:txBody>
      </p:sp>
      <p:sp>
        <p:nvSpPr>
          <p:cNvPr id="9" name="Rounded Rectangle 8"/>
          <p:cNvSpPr/>
          <p:nvPr/>
        </p:nvSpPr>
        <p:spPr>
          <a:xfrm>
            <a:off x="1234440" y="3081528"/>
            <a:ext cx="274320" cy="274320"/>
          </a:xfrm>
          <a:prstGeom prst="roundRect">
            <a:avLst>
              <a:gd name="adj" fmla="val 3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234440" y="3113532"/>
            <a:ext cx="2743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2</a:t>
            </a:r>
          </a:p>
        </p:txBody>
      </p:sp>
      <p:sp>
        <p:nvSpPr>
          <p:cNvPr id="11" name="TextBox 10"/>
          <p:cNvSpPr txBox="1"/>
          <p:nvPr/>
        </p:nvSpPr>
        <p:spPr>
          <a:xfrm>
            <a:off x="1755648" y="3063240"/>
            <a:ext cx="9144000"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1" i="0">
                <a:solidFill>
                  <a:srgbClr val="FFFFFF"/>
                </a:solidFill>
                <a:latin typeface="Segoe UI"/>
              </a:rPr>
              <a:t>One call, many formats, one output shape</a:t>
            </a:r>
          </a:p>
          <a:p>
            <a:pPr algn="l">
              <a:lnSpc>
                <a:spcPct val="125000"/>
              </a:lnSpc>
              <a:spcBef>
                <a:spcPts val="0"/>
              </a:spcBef>
              <a:spcAft>
                <a:spcPts val="0"/>
              </a:spcAft>
            </a:pPr>
            <a:r>
              <a:rPr sz="1200" b="0" i="0">
                <a:solidFill>
                  <a:srgbClr val="94A3B8"/>
                </a:solidFill>
                <a:latin typeface="Segoe UI"/>
              </a:rPr>
              <a:t>The caller never branches on file type. Detection and routing happen server-side.</a:t>
            </a:r>
          </a:p>
        </p:txBody>
      </p:sp>
      <p:sp>
        <p:nvSpPr>
          <p:cNvPr id="12" name="Rounded Rectangle 11"/>
          <p:cNvSpPr/>
          <p:nvPr/>
        </p:nvSpPr>
        <p:spPr>
          <a:xfrm>
            <a:off x="1234440" y="3904487"/>
            <a:ext cx="274320" cy="274320"/>
          </a:xfrm>
          <a:prstGeom prst="roundRect">
            <a:avLst>
              <a:gd name="adj" fmla="val 3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234440" y="3936491"/>
            <a:ext cx="2743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3</a:t>
            </a:r>
          </a:p>
        </p:txBody>
      </p:sp>
      <p:sp>
        <p:nvSpPr>
          <p:cNvPr id="14" name="TextBox 13"/>
          <p:cNvSpPr txBox="1"/>
          <p:nvPr/>
        </p:nvSpPr>
        <p:spPr>
          <a:xfrm>
            <a:off x="1755648" y="3886200"/>
            <a:ext cx="9144000"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1" i="0">
                <a:solidFill>
                  <a:srgbClr val="FFFFFF"/>
                </a:solidFill>
                <a:latin typeface="Segoe UI"/>
              </a:rPr>
              <a:t>Extraction stays separate from interpretation</a:t>
            </a:r>
          </a:p>
          <a:p>
            <a:pPr algn="l">
              <a:lnSpc>
                <a:spcPct val="125000"/>
              </a:lnSpc>
              <a:spcBef>
                <a:spcPts val="0"/>
              </a:spcBef>
              <a:spcAft>
                <a:spcPts val="0"/>
              </a:spcAft>
            </a:pPr>
            <a:r>
              <a:rPr sz="1200" b="0" i="0">
                <a:solidFill>
                  <a:srgbClr val="94A3B8"/>
                </a:solidFill>
                <a:latin typeface="Segoe UI"/>
              </a:rPr>
              <a:t>Semantics live in the agent's prompt, not baked invisibly into the extraction layer.</a:t>
            </a:r>
          </a:p>
        </p:txBody>
      </p:sp>
      <p:sp>
        <p:nvSpPr>
          <p:cNvPr id="15" name="Rounded Rectangle 14"/>
          <p:cNvSpPr/>
          <p:nvPr/>
        </p:nvSpPr>
        <p:spPr>
          <a:xfrm>
            <a:off x="1234440" y="4727448"/>
            <a:ext cx="274320" cy="274320"/>
          </a:xfrm>
          <a:prstGeom prst="roundRect">
            <a:avLst>
              <a:gd name="adj" fmla="val 3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234440" y="4759452"/>
            <a:ext cx="2743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4</a:t>
            </a:r>
          </a:p>
        </p:txBody>
      </p:sp>
      <p:sp>
        <p:nvSpPr>
          <p:cNvPr id="17" name="TextBox 16"/>
          <p:cNvSpPr txBox="1"/>
          <p:nvPr/>
        </p:nvSpPr>
        <p:spPr>
          <a:xfrm>
            <a:off x="1755648" y="4709160"/>
            <a:ext cx="9144000"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1" i="0">
                <a:solidFill>
                  <a:srgbClr val="FFFFFF"/>
                </a:solidFill>
                <a:latin typeface="Segoe UI"/>
              </a:rPr>
              <a:t>Typed numbers separate computing from guessing</a:t>
            </a:r>
          </a:p>
          <a:p>
            <a:pPr algn="l">
              <a:lnSpc>
                <a:spcPct val="125000"/>
              </a:lnSpc>
              <a:spcBef>
                <a:spcPts val="0"/>
              </a:spcBef>
              <a:spcAft>
                <a:spcPts val="0"/>
              </a:spcAft>
            </a:pPr>
            <a:r>
              <a:rPr sz="1200" b="0" i="0">
                <a:solidFill>
                  <a:srgbClr val="94A3B8"/>
                </a:solidFill>
                <a:latin typeface="Segoe UI"/>
              </a:rPr>
              <a:t>Stored cell values, not rendered text — the one claim a generic pipeline cannot make.</a:t>
            </a:r>
          </a:p>
        </p:txBody>
      </p:sp>
      <p:sp>
        <p:nvSpPr>
          <p:cNvPr id="18" name="Rounded Rectangle 17"/>
          <p:cNvSpPr/>
          <p:nvPr/>
        </p:nvSpPr>
        <p:spPr>
          <a:xfrm>
            <a:off x="1234440" y="5550408"/>
            <a:ext cx="274320" cy="274320"/>
          </a:xfrm>
          <a:prstGeom prst="roundRect">
            <a:avLst>
              <a:gd name="adj" fmla="val 30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234440" y="5582412"/>
            <a:ext cx="2743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FFFFFF"/>
                </a:solidFill>
                <a:latin typeface="Segoe UI"/>
              </a:rPr>
              <a:t>5</a:t>
            </a:r>
          </a:p>
        </p:txBody>
      </p:sp>
      <p:sp>
        <p:nvSpPr>
          <p:cNvPr id="20" name="TextBox 19"/>
          <p:cNvSpPr txBox="1"/>
          <p:nvPr/>
        </p:nvSpPr>
        <p:spPr>
          <a:xfrm>
            <a:off x="1755648" y="5532120"/>
            <a:ext cx="9144000" cy="685800"/>
          </a:xfrm>
          <a:prstGeom prst="rect">
            <a:avLst/>
          </a:prstGeom>
          <a:noFill/>
        </p:spPr>
        <p:txBody>
          <a:bodyPr wrap="square" lIns="0" rIns="0" tIns="0" bIns="0" anchor="t">
            <a:spAutoFit/>
          </a:bodyPr>
          <a:lstStyle/>
          <a:p>
            <a:pPr algn="l">
              <a:lnSpc>
                <a:spcPct val="110000"/>
              </a:lnSpc>
              <a:spcBef>
                <a:spcPts val="0"/>
              </a:spcBef>
              <a:spcAft>
                <a:spcPts val="300"/>
              </a:spcAft>
            </a:pPr>
            <a:r>
              <a:rPr sz="1500" b="1" i="0">
                <a:solidFill>
                  <a:srgbClr val="FFFFFF"/>
                </a:solidFill>
                <a:latin typeface="Segoe UI"/>
              </a:rPr>
              <a:t>Partial success and hard limits make it loop-safe</a:t>
            </a:r>
          </a:p>
          <a:p>
            <a:pPr algn="l">
              <a:lnSpc>
                <a:spcPct val="125000"/>
              </a:lnSpc>
              <a:spcBef>
                <a:spcPts val="0"/>
              </a:spcBef>
              <a:spcAft>
                <a:spcPts val="0"/>
              </a:spcAft>
            </a:pPr>
            <a:r>
              <a:rPr sz="1200" b="0" i="0">
                <a:solidFill>
                  <a:srgbClr val="94A3B8"/>
                </a:solidFill>
                <a:latin typeface="Segoe UI"/>
              </a:rPr>
              <a:t>One bad file yields one error entry, never a failed batch.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 Intelligence for AI Agents</dc:title>
  <dc:subject>Architecture and implementation overview</dc:subject>
  <dc:creator/>
  <cp:keywords/>
  <dc:description/>
  <cp:lastModifiedBy/>
  <cp:revision>1</cp:revision>
  <dcterms:created xsi:type="dcterms:W3CDTF">2013-01-27T09:14:16Z</dcterms:created>
  <dcterms:modified xsi:type="dcterms:W3CDTF">2013-01-27T09:15:58Z</dcterms:modified>
  <cp:category/>
</cp:coreProperties>
</file>